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7" r:id="rId17"/>
    <p:sldId id="278" r:id="rId18"/>
    <p:sldId id="270" r:id="rId19"/>
    <p:sldId id="271" r:id="rId20"/>
    <p:sldId id="272" r:id="rId21"/>
    <p:sldId id="273" r:id="rId22"/>
    <p:sldId id="275"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F1B8E5D-52D8-4EF7-98C5-434F5D1D8199}" type="datetimeFigureOut">
              <a:rPr lang="en-US" smtClean="0"/>
              <a:pPr/>
              <a:t>5/11/2016</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9C59D6FF-1883-45B6-B03C-97280E2AFE0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F1B8E5D-52D8-4EF7-98C5-434F5D1D8199}" type="datetimeFigureOut">
              <a:rPr lang="en-US" smtClean="0"/>
              <a:pPr/>
              <a:t>5/11/2016</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9C59D6FF-1883-45B6-B03C-97280E2AFE0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F1B8E5D-52D8-4EF7-98C5-434F5D1D8199}" type="datetimeFigureOut">
              <a:rPr lang="en-US" smtClean="0"/>
              <a:pPr/>
              <a:t>5/11/2016</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59D6FF-1883-45B6-B03C-97280E2AFE07}"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1B8E5D-52D8-4EF7-98C5-434F5D1D8199}" type="datetimeFigureOut">
              <a:rPr lang="en-US" smtClean="0"/>
              <a:pPr/>
              <a:t>5/11/2016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59D6FF-1883-45B6-B03C-97280E2AFE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5F1B8E5D-52D8-4EF7-98C5-434F5D1D8199}" type="datetimeFigureOut">
              <a:rPr lang="en-US" smtClean="0"/>
              <a:pPr/>
              <a:t>5/11/2016</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9C59D6FF-1883-45B6-B03C-97280E2AFE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F1B8E5D-52D8-4EF7-98C5-434F5D1D8199}" type="datetimeFigureOut">
              <a:rPr lang="en-US" smtClean="0"/>
              <a:pPr/>
              <a:t>5/11/2016</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9C59D6FF-1883-45B6-B03C-97280E2AFE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UNDERSTANDING</a:t>
            </a:r>
            <a:br>
              <a:rPr lang="en-US" dirty="0" smtClean="0"/>
            </a:br>
            <a:r>
              <a:rPr lang="en-US" dirty="0" smtClean="0"/>
              <a:t>JSON</a:t>
            </a:r>
            <a:endParaRPr lang="en-US" dirty="0"/>
          </a:p>
        </p:txBody>
      </p:sp>
      <p:pic>
        <p:nvPicPr>
          <p:cNvPr id="1027" name="Picture 3" descr="C:\Documents and Settings\u16017\Desktop\json1.jpg"/>
          <p:cNvPicPr>
            <a:picLocks noChangeAspect="1" noChangeArrowheads="1"/>
          </p:cNvPicPr>
          <p:nvPr/>
        </p:nvPicPr>
        <p:blipFill>
          <a:blip r:embed="rId2" cstate="print"/>
          <a:srcRect/>
          <a:stretch>
            <a:fillRect/>
          </a:stretch>
        </p:blipFill>
        <p:spPr bwMode="auto">
          <a:xfrm>
            <a:off x="0" y="5029200"/>
            <a:ext cx="2667000" cy="18288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lstStyle/>
          <a:p>
            <a:r>
              <a:rPr lang="en-US" dirty="0" smtClean="0"/>
              <a:t>What is </a:t>
            </a:r>
            <a:r>
              <a:rPr lang="en-US" dirty="0" err="1" smtClean="0"/>
              <a:t>json</a:t>
            </a:r>
            <a:r>
              <a:rPr lang="en-US" dirty="0" smtClean="0"/>
              <a:t> ?</a:t>
            </a:r>
            <a:endParaRPr lang="en-US" dirty="0"/>
          </a:p>
        </p:txBody>
      </p:sp>
      <p:sp>
        <p:nvSpPr>
          <p:cNvPr id="3" name="Content Placeholder 2"/>
          <p:cNvSpPr>
            <a:spLocks noGrp="1"/>
          </p:cNvSpPr>
          <p:nvPr>
            <p:ph idx="1"/>
          </p:nvPr>
        </p:nvSpPr>
        <p:spPr>
          <a:xfrm>
            <a:off x="457200" y="914400"/>
            <a:ext cx="7239000" cy="5541336"/>
          </a:xfrm>
        </p:spPr>
        <p:txBody>
          <a:bodyPr>
            <a:normAutofit/>
          </a:bodyPr>
          <a:lstStyle/>
          <a:p>
            <a:r>
              <a:rPr lang="en-US" sz="2000" dirty="0" smtClean="0"/>
              <a:t>Stands for JavaScript Object Notation </a:t>
            </a:r>
          </a:p>
          <a:p>
            <a:pPr>
              <a:buNone/>
            </a:pPr>
            <a:endParaRPr lang="en-US" sz="2000" dirty="0" smtClean="0"/>
          </a:p>
          <a:p>
            <a:r>
              <a:rPr lang="en-US" sz="2000" dirty="0" smtClean="0"/>
              <a:t>Lightweight text data interchange format</a:t>
            </a:r>
          </a:p>
          <a:p>
            <a:pPr>
              <a:buNone/>
            </a:pPr>
            <a:endParaRPr lang="en-US" sz="2000" dirty="0" smtClean="0"/>
          </a:p>
          <a:p>
            <a:r>
              <a:rPr lang="en-US" sz="2000" dirty="0" smtClean="0"/>
              <a:t>Language independent</a:t>
            </a:r>
          </a:p>
          <a:p>
            <a:pPr>
              <a:buNone/>
            </a:pPr>
            <a:endParaRPr lang="en-US" sz="2000" dirty="0" smtClean="0"/>
          </a:p>
          <a:p>
            <a:r>
              <a:rPr lang="en-US" sz="2000" dirty="0" smtClean="0"/>
              <a:t>Self describing and easy to understand</a:t>
            </a:r>
          </a:p>
          <a:p>
            <a:pPr>
              <a:buNone/>
            </a:pPr>
            <a:endParaRPr lang="en-US" sz="2000" dirty="0" smtClean="0"/>
          </a:p>
          <a:p>
            <a:r>
              <a:rPr lang="en-US" sz="2000" dirty="0" smtClean="0"/>
              <a:t>Uses JavaScript Syntax for describing data Objects</a:t>
            </a:r>
          </a:p>
          <a:p>
            <a:pPr>
              <a:buNone/>
            </a:pPr>
            <a:endParaRPr lang="en-US" sz="2000" dirty="0" smtClean="0"/>
          </a:p>
          <a:p>
            <a:r>
              <a:rPr lang="en-US" sz="2000" dirty="0" smtClean="0"/>
              <a:t>It’s a language and platform independent</a:t>
            </a:r>
          </a:p>
          <a:p>
            <a:endParaRPr lang="en-US" sz="2000" dirty="0" smtClean="0"/>
          </a:p>
          <a:p>
            <a:r>
              <a:rPr lang="en-US" sz="2000" dirty="0" smtClean="0"/>
              <a:t>JSON parsers  and JSON libraries exist for many different programming languages</a:t>
            </a:r>
          </a:p>
          <a:p>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lstStyle/>
          <a:p>
            <a:r>
              <a:rPr lang="en-US" dirty="0" smtClean="0"/>
              <a:t>Much like xml</a:t>
            </a:r>
            <a:endParaRPr lang="en-US" dirty="0"/>
          </a:p>
        </p:txBody>
      </p:sp>
      <p:sp>
        <p:nvSpPr>
          <p:cNvPr id="3" name="Content Placeholder 2"/>
          <p:cNvSpPr>
            <a:spLocks noGrp="1"/>
          </p:cNvSpPr>
          <p:nvPr>
            <p:ph idx="1"/>
          </p:nvPr>
        </p:nvSpPr>
        <p:spPr>
          <a:xfrm>
            <a:off x="457200" y="1066800"/>
            <a:ext cx="7239000" cy="5388936"/>
          </a:xfrm>
        </p:spPr>
        <p:txBody>
          <a:bodyPr>
            <a:normAutofit/>
          </a:bodyPr>
          <a:lstStyle/>
          <a:p>
            <a:pPr>
              <a:buNone/>
            </a:pPr>
            <a:endParaRPr lang="en-US" sz="2400" dirty="0" smtClean="0"/>
          </a:p>
          <a:p>
            <a:pPr>
              <a:buNone/>
            </a:pPr>
            <a:endParaRPr lang="en-US" sz="2400" dirty="0" smtClean="0"/>
          </a:p>
          <a:p>
            <a:r>
              <a:rPr lang="en-US" sz="2000" dirty="0" smtClean="0"/>
              <a:t>JSON is plain Text</a:t>
            </a:r>
          </a:p>
          <a:p>
            <a:pPr>
              <a:buNone/>
            </a:pPr>
            <a:endParaRPr lang="en-US" sz="2000" dirty="0" smtClean="0"/>
          </a:p>
          <a:p>
            <a:r>
              <a:rPr lang="en-US" sz="2000" dirty="0" smtClean="0"/>
              <a:t>JSON is self describing </a:t>
            </a:r>
          </a:p>
          <a:p>
            <a:pPr>
              <a:buNone/>
            </a:pPr>
            <a:endParaRPr lang="en-US" sz="2000" dirty="0" smtClean="0"/>
          </a:p>
          <a:p>
            <a:r>
              <a:rPr lang="en-US" sz="2000" dirty="0" smtClean="0"/>
              <a:t>JSON is hierarchical (values within values)</a:t>
            </a:r>
          </a:p>
          <a:p>
            <a:pPr>
              <a:buNone/>
            </a:pPr>
            <a:endParaRPr lang="en-US" sz="2000" dirty="0" smtClean="0"/>
          </a:p>
          <a:p>
            <a:r>
              <a:rPr lang="en-US" sz="2000" dirty="0" smtClean="0"/>
              <a:t>JSON can be parsed by JAVASCRIPT</a:t>
            </a:r>
          </a:p>
          <a:p>
            <a:pPr>
              <a:buNone/>
            </a:pPr>
            <a:endParaRPr lang="en-US" sz="2000" dirty="0" smtClean="0"/>
          </a:p>
          <a:p>
            <a:r>
              <a:rPr lang="en-US" sz="2000" dirty="0" smtClean="0"/>
              <a:t>JSON data can be transported using AJAX</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lstStyle/>
          <a:p>
            <a:r>
              <a:rPr lang="en-US" dirty="0" smtClean="0"/>
              <a:t>MUCH UNLIKE XML</a:t>
            </a:r>
            <a:endParaRPr lang="en-US" dirty="0"/>
          </a:p>
        </p:txBody>
      </p:sp>
      <p:sp>
        <p:nvSpPr>
          <p:cNvPr id="3" name="Content Placeholder 2"/>
          <p:cNvSpPr>
            <a:spLocks noGrp="1"/>
          </p:cNvSpPr>
          <p:nvPr>
            <p:ph idx="1"/>
          </p:nvPr>
        </p:nvSpPr>
        <p:spPr>
          <a:xfrm>
            <a:off x="381000" y="990600"/>
            <a:ext cx="7239000" cy="5486400"/>
          </a:xfrm>
        </p:spPr>
        <p:txBody>
          <a:bodyPr>
            <a:normAutofit/>
          </a:bodyPr>
          <a:lstStyle/>
          <a:p>
            <a:endParaRPr lang="en-US" sz="2000" dirty="0" smtClean="0"/>
          </a:p>
          <a:p>
            <a:r>
              <a:rPr lang="en-US" sz="2000" dirty="0" smtClean="0"/>
              <a:t>No End Tag</a:t>
            </a:r>
          </a:p>
          <a:p>
            <a:pPr>
              <a:buNone/>
            </a:pPr>
            <a:endParaRPr lang="en-US" sz="2000" dirty="0" smtClean="0"/>
          </a:p>
          <a:p>
            <a:r>
              <a:rPr lang="en-US" sz="2000" dirty="0" smtClean="0"/>
              <a:t>Shorter</a:t>
            </a:r>
          </a:p>
          <a:p>
            <a:pPr>
              <a:buNone/>
            </a:pPr>
            <a:endParaRPr lang="en-US" sz="2000" dirty="0" smtClean="0"/>
          </a:p>
          <a:p>
            <a:r>
              <a:rPr lang="en-US" sz="2000" dirty="0" smtClean="0"/>
              <a:t>Quicker to read and write </a:t>
            </a:r>
          </a:p>
          <a:p>
            <a:endParaRPr lang="en-US" sz="2000" dirty="0" smtClean="0"/>
          </a:p>
          <a:p>
            <a:r>
              <a:rPr lang="en-US" sz="2000" dirty="0" smtClean="0"/>
              <a:t>Can be parsed using  built-in JavaScript </a:t>
            </a:r>
            <a:r>
              <a:rPr lang="en-US" sz="2000" dirty="0" err="1" smtClean="0"/>
              <a:t>eval</a:t>
            </a:r>
            <a:r>
              <a:rPr lang="en-US" sz="2000" dirty="0" smtClean="0"/>
              <a:t>()</a:t>
            </a:r>
          </a:p>
          <a:p>
            <a:pPr>
              <a:buNone/>
            </a:pPr>
            <a:endParaRPr lang="en-US" sz="2000" dirty="0" smtClean="0"/>
          </a:p>
          <a:p>
            <a:r>
              <a:rPr lang="en-US" sz="2000" dirty="0" smtClean="0"/>
              <a:t>Uses arrays</a:t>
            </a:r>
          </a:p>
          <a:p>
            <a:pPr>
              <a:buNone/>
            </a:pPr>
            <a:endParaRPr lang="en-US" sz="2000" dirty="0" smtClean="0"/>
          </a:p>
          <a:p>
            <a:r>
              <a:rPr lang="en-US" sz="2000" dirty="0" smtClean="0"/>
              <a:t>No Reserve Words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lstStyle/>
          <a:p>
            <a:r>
              <a:rPr lang="en-US" dirty="0" smtClean="0"/>
              <a:t>WHY JSON ?</a:t>
            </a:r>
            <a:endParaRPr lang="en-US" dirty="0"/>
          </a:p>
        </p:txBody>
      </p:sp>
      <p:sp>
        <p:nvSpPr>
          <p:cNvPr id="3" name="Content Placeholder 2"/>
          <p:cNvSpPr>
            <a:spLocks noGrp="1"/>
          </p:cNvSpPr>
          <p:nvPr>
            <p:ph idx="1"/>
          </p:nvPr>
        </p:nvSpPr>
        <p:spPr>
          <a:xfrm>
            <a:off x="457200" y="1066800"/>
            <a:ext cx="7239000" cy="5388936"/>
          </a:xfrm>
        </p:spPr>
        <p:txBody>
          <a:bodyPr/>
          <a:lstStyle/>
          <a:p>
            <a:r>
              <a:rPr lang="en-US" dirty="0" smtClean="0"/>
              <a:t> For AJAX application, JSON is faster and easier then XML :</a:t>
            </a:r>
          </a:p>
          <a:p>
            <a:pPr>
              <a:buNone/>
            </a:pPr>
            <a:endParaRPr lang="en-US" dirty="0" smtClean="0"/>
          </a:p>
          <a:p>
            <a:r>
              <a:rPr lang="en-US" dirty="0" smtClean="0"/>
              <a:t>Using XML</a:t>
            </a:r>
          </a:p>
          <a:p>
            <a:pPr marL="761238" lvl="1" indent="-514350">
              <a:buFont typeface="+mj-lt"/>
              <a:buAutoNum type="arabicPeriod"/>
            </a:pPr>
            <a:r>
              <a:rPr lang="en-US" dirty="0" smtClean="0"/>
              <a:t> Fetch the XML document </a:t>
            </a:r>
          </a:p>
          <a:p>
            <a:pPr marL="761238" lvl="1" indent="-514350">
              <a:buFont typeface="+mj-lt"/>
              <a:buAutoNum type="arabicPeriod"/>
            </a:pPr>
            <a:r>
              <a:rPr lang="en-US" dirty="0" smtClean="0"/>
              <a:t>Use DOM  to loop through the document</a:t>
            </a:r>
          </a:p>
          <a:p>
            <a:pPr marL="761238" lvl="1" indent="-514350">
              <a:buFont typeface="+mj-lt"/>
              <a:buAutoNum type="arabicPeriod"/>
            </a:pPr>
            <a:r>
              <a:rPr lang="en-US" dirty="0" smtClean="0"/>
              <a:t>Extract values and store in variables</a:t>
            </a:r>
          </a:p>
          <a:p>
            <a:pPr marL="761238" lvl="1" indent="-514350">
              <a:buNone/>
            </a:pPr>
            <a:endParaRPr lang="en-US" dirty="0" smtClean="0"/>
          </a:p>
          <a:p>
            <a:pPr marL="514350" indent="-514350"/>
            <a:r>
              <a:rPr lang="en-US" dirty="0" smtClean="0"/>
              <a:t>Using  JSON</a:t>
            </a:r>
          </a:p>
          <a:p>
            <a:pPr marL="761238" lvl="1" indent="-514350">
              <a:buFont typeface="+mj-lt"/>
              <a:buAutoNum type="arabicPeriod"/>
            </a:pPr>
            <a:r>
              <a:rPr lang="en-US" dirty="0" smtClean="0"/>
              <a:t> Fetch a JSON STRING </a:t>
            </a:r>
          </a:p>
          <a:p>
            <a:pPr marL="761238" lvl="1" indent="-514350">
              <a:buFont typeface="+mj-lt"/>
              <a:buAutoNum type="arabicPeriod"/>
            </a:pPr>
            <a:r>
              <a:rPr lang="en-US" dirty="0" smtClean="0"/>
              <a:t> </a:t>
            </a:r>
            <a:r>
              <a:rPr lang="en-US" dirty="0" err="1" smtClean="0"/>
              <a:t>eval</a:t>
            </a:r>
            <a:r>
              <a:rPr lang="en-US" dirty="0" smtClean="0"/>
              <a:t>() the JSON String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239000" cy="441960"/>
          </a:xfrm>
        </p:spPr>
        <p:txBody>
          <a:bodyPr>
            <a:normAutofit fontScale="90000"/>
          </a:bodyPr>
          <a:lstStyle/>
          <a:p>
            <a:r>
              <a:rPr lang="en-US" dirty="0" err="1" smtClean="0"/>
              <a:t>Json</a:t>
            </a:r>
            <a:r>
              <a:rPr lang="en-US" dirty="0" smtClean="0"/>
              <a:t> example</a:t>
            </a:r>
            <a:endParaRPr lang="en-US" dirty="0"/>
          </a:p>
        </p:txBody>
      </p:sp>
      <p:sp>
        <p:nvSpPr>
          <p:cNvPr id="3" name="Content Placeholder 2"/>
          <p:cNvSpPr>
            <a:spLocks noGrp="1"/>
          </p:cNvSpPr>
          <p:nvPr>
            <p:ph idx="1"/>
          </p:nvPr>
        </p:nvSpPr>
        <p:spPr>
          <a:xfrm>
            <a:off x="457200" y="457200"/>
            <a:ext cx="7239000" cy="6248400"/>
          </a:xfrm>
          <a:ln>
            <a:solidFill>
              <a:srgbClr val="FFFF00"/>
            </a:solidFill>
          </a:ln>
        </p:spPr>
        <p:txBody>
          <a:bodyPr>
            <a:noAutofit/>
          </a:bodyPr>
          <a:lstStyle/>
          <a:p>
            <a:pPr>
              <a:buNone/>
            </a:pPr>
            <a:r>
              <a:rPr lang="en-US" sz="1100" dirty="0" smtClean="0"/>
              <a:t>     </a:t>
            </a:r>
          </a:p>
          <a:p>
            <a:pPr>
              <a:buNone/>
            </a:pPr>
            <a:r>
              <a:rPr lang="en-US" sz="1100" dirty="0" smtClean="0"/>
              <a:t> </a:t>
            </a:r>
            <a:r>
              <a:rPr lang="en-US" sz="1600" dirty="0" smtClean="0"/>
              <a:t>&lt;html&gt;</a:t>
            </a:r>
          </a:p>
          <a:p>
            <a:pPr>
              <a:buNone/>
            </a:pPr>
            <a:r>
              <a:rPr lang="en-US" sz="1600" dirty="0" smtClean="0"/>
              <a:t> &lt;script type="text/</a:t>
            </a:r>
            <a:r>
              <a:rPr lang="en-US" sz="1600" dirty="0" err="1" smtClean="0"/>
              <a:t>javascript</a:t>
            </a:r>
            <a:r>
              <a:rPr lang="en-US" sz="1600" dirty="0" smtClean="0"/>
              <a:t>"&gt;</a:t>
            </a:r>
            <a:br>
              <a:rPr lang="en-US" sz="1600" dirty="0" smtClean="0"/>
            </a:br>
            <a:r>
              <a:rPr lang="en-US" sz="1600" dirty="0" smtClean="0">
                <a:solidFill>
                  <a:srgbClr val="C00000"/>
                </a:solidFill>
              </a:rPr>
              <a:t>       </a:t>
            </a:r>
            <a:r>
              <a:rPr lang="en-US" sz="1600" dirty="0" err="1" smtClean="0">
                <a:solidFill>
                  <a:srgbClr val="C00000"/>
                </a:solidFill>
              </a:rPr>
              <a:t>var</a:t>
            </a:r>
            <a:r>
              <a:rPr lang="en-US" sz="1600" dirty="0" smtClean="0">
                <a:solidFill>
                  <a:srgbClr val="C00000"/>
                </a:solidFill>
              </a:rPr>
              <a:t> </a:t>
            </a:r>
            <a:r>
              <a:rPr lang="en-US" sz="1600" dirty="0" err="1" smtClean="0">
                <a:solidFill>
                  <a:srgbClr val="C00000"/>
                </a:solidFill>
              </a:rPr>
              <a:t>JSONObject</a:t>
            </a:r>
            <a:r>
              <a:rPr lang="en-US" sz="1600" dirty="0" smtClean="0">
                <a:solidFill>
                  <a:srgbClr val="C00000"/>
                </a:solidFill>
              </a:rPr>
              <a:t>= {</a:t>
            </a:r>
            <a:br>
              <a:rPr lang="en-US" sz="1600" dirty="0" smtClean="0">
                <a:solidFill>
                  <a:srgbClr val="C00000"/>
                </a:solidFill>
              </a:rPr>
            </a:br>
            <a:r>
              <a:rPr lang="en-US" sz="1600" dirty="0" smtClean="0">
                <a:solidFill>
                  <a:srgbClr val="C00000"/>
                </a:solidFill>
              </a:rPr>
              <a:t>           "name":"John Johnson",</a:t>
            </a:r>
            <a:br>
              <a:rPr lang="en-US" sz="1600" dirty="0" smtClean="0">
                <a:solidFill>
                  <a:srgbClr val="C00000"/>
                </a:solidFill>
              </a:rPr>
            </a:br>
            <a:r>
              <a:rPr lang="en-US" sz="1600" dirty="0" smtClean="0">
                <a:solidFill>
                  <a:srgbClr val="C00000"/>
                </a:solidFill>
              </a:rPr>
              <a:t>            "street":"Oslo West 555", </a:t>
            </a:r>
            <a:br>
              <a:rPr lang="en-US" sz="1600" dirty="0" smtClean="0">
                <a:solidFill>
                  <a:srgbClr val="C00000"/>
                </a:solidFill>
              </a:rPr>
            </a:br>
            <a:r>
              <a:rPr lang="en-US" sz="1600" dirty="0" smtClean="0">
                <a:solidFill>
                  <a:srgbClr val="C00000"/>
                </a:solidFill>
              </a:rPr>
              <a:t>            "age":”33”,</a:t>
            </a:r>
            <a:br>
              <a:rPr lang="en-US" sz="1600" dirty="0" smtClean="0">
                <a:solidFill>
                  <a:srgbClr val="C00000"/>
                </a:solidFill>
              </a:rPr>
            </a:br>
            <a:r>
              <a:rPr lang="en-US" sz="1600" dirty="0" smtClean="0">
                <a:solidFill>
                  <a:srgbClr val="C00000"/>
                </a:solidFill>
              </a:rPr>
              <a:t>           "phone":"555 1234567"};</a:t>
            </a:r>
          </a:p>
          <a:p>
            <a:pPr>
              <a:buNone/>
            </a:pPr>
            <a:r>
              <a:rPr lang="en-US" sz="1600" dirty="0" smtClean="0"/>
              <a:t/>
            </a:r>
            <a:br>
              <a:rPr lang="en-US" sz="1600" dirty="0" smtClean="0"/>
            </a:br>
            <a:r>
              <a:rPr lang="en-US" sz="1600" dirty="0" smtClean="0"/>
              <a:t>    </a:t>
            </a:r>
            <a:r>
              <a:rPr lang="en-US" sz="1600" dirty="0" err="1" smtClean="0"/>
              <a:t>document.getElementById</a:t>
            </a:r>
            <a:r>
              <a:rPr lang="en-US" sz="1600" dirty="0" smtClean="0"/>
              <a:t>("</a:t>
            </a:r>
            <a:r>
              <a:rPr lang="en-US" sz="1600" dirty="0" err="1" smtClean="0"/>
              <a:t>jname</a:t>
            </a:r>
            <a:r>
              <a:rPr lang="en-US" sz="1600" dirty="0" smtClean="0"/>
              <a:t>").</a:t>
            </a:r>
            <a:r>
              <a:rPr lang="en-US" sz="1600" dirty="0" err="1" smtClean="0"/>
              <a:t>innerHTML</a:t>
            </a:r>
            <a:r>
              <a:rPr lang="en-US" sz="1600" dirty="0" smtClean="0"/>
              <a:t>=JSONObject.name </a:t>
            </a:r>
            <a:br>
              <a:rPr lang="en-US" sz="1600" dirty="0" smtClean="0"/>
            </a:br>
            <a:r>
              <a:rPr lang="en-US" sz="1600" dirty="0" smtClean="0"/>
              <a:t>    </a:t>
            </a:r>
            <a:r>
              <a:rPr lang="en-US" sz="1600" dirty="0" err="1" smtClean="0"/>
              <a:t>document.getElementById</a:t>
            </a:r>
            <a:r>
              <a:rPr lang="en-US" sz="1600" dirty="0" smtClean="0"/>
              <a:t>("</a:t>
            </a:r>
            <a:r>
              <a:rPr lang="en-US" sz="1600" dirty="0" err="1" smtClean="0"/>
              <a:t>jage</a:t>
            </a:r>
            <a:r>
              <a:rPr lang="en-US" sz="1600" dirty="0" smtClean="0"/>
              <a:t>").</a:t>
            </a:r>
            <a:r>
              <a:rPr lang="en-US" sz="1600" dirty="0" err="1" smtClean="0"/>
              <a:t>innerHTML</a:t>
            </a:r>
            <a:r>
              <a:rPr lang="en-US" sz="1600" dirty="0" smtClean="0"/>
              <a:t>=</a:t>
            </a:r>
            <a:r>
              <a:rPr lang="en-US" sz="1600" dirty="0" err="1" smtClean="0"/>
              <a:t>JSONObject.age</a:t>
            </a:r>
            <a:r>
              <a:rPr lang="en-US" sz="1600" dirty="0" smtClean="0"/>
              <a:t> </a:t>
            </a:r>
            <a:br>
              <a:rPr lang="en-US" sz="1600" dirty="0" smtClean="0"/>
            </a:br>
            <a:r>
              <a:rPr lang="en-US" sz="1600" dirty="0" smtClean="0"/>
              <a:t>    </a:t>
            </a:r>
            <a:r>
              <a:rPr lang="en-US" sz="1600" dirty="0" err="1" smtClean="0"/>
              <a:t>document.getElementById</a:t>
            </a:r>
            <a:r>
              <a:rPr lang="en-US" sz="1600" dirty="0" smtClean="0"/>
              <a:t>("</a:t>
            </a:r>
            <a:r>
              <a:rPr lang="en-US" sz="1600" dirty="0" err="1" smtClean="0"/>
              <a:t>jstreet</a:t>
            </a:r>
            <a:r>
              <a:rPr lang="en-US" sz="1600" dirty="0" smtClean="0"/>
              <a:t>").</a:t>
            </a:r>
            <a:r>
              <a:rPr lang="en-US" sz="1600" dirty="0" err="1" smtClean="0"/>
              <a:t>innerHTML</a:t>
            </a:r>
            <a:r>
              <a:rPr lang="en-US" sz="1600" dirty="0" smtClean="0"/>
              <a:t>=</a:t>
            </a:r>
            <a:r>
              <a:rPr lang="en-US" sz="1600" dirty="0" err="1" smtClean="0"/>
              <a:t>JSONObject.street</a:t>
            </a:r>
            <a:r>
              <a:rPr lang="en-US" sz="1600" dirty="0" smtClean="0"/>
              <a:t> </a:t>
            </a:r>
            <a:br>
              <a:rPr lang="en-US" sz="1600" dirty="0" smtClean="0"/>
            </a:br>
            <a:r>
              <a:rPr lang="en-US" sz="1600" dirty="0" smtClean="0"/>
              <a:t>    </a:t>
            </a:r>
            <a:r>
              <a:rPr lang="en-US" sz="1600" dirty="0" err="1" smtClean="0"/>
              <a:t>document.getElementById</a:t>
            </a:r>
            <a:r>
              <a:rPr lang="en-US" sz="1600" dirty="0" smtClean="0"/>
              <a:t>("</a:t>
            </a:r>
            <a:r>
              <a:rPr lang="en-US" sz="1600" dirty="0" err="1" smtClean="0"/>
              <a:t>jphone</a:t>
            </a:r>
            <a:r>
              <a:rPr lang="en-US" sz="1600" dirty="0" smtClean="0"/>
              <a:t>").</a:t>
            </a:r>
            <a:r>
              <a:rPr lang="en-US" sz="1600" dirty="0" err="1" smtClean="0"/>
              <a:t>innerHTML</a:t>
            </a:r>
            <a:r>
              <a:rPr lang="en-US" sz="1600" dirty="0" smtClean="0"/>
              <a:t>=</a:t>
            </a:r>
            <a:r>
              <a:rPr lang="en-US" sz="1600" dirty="0" err="1" smtClean="0"/>
              <a:t>JSONObject.phone</a:t>
            </a:r>
            <a:r>
              <a:rPr lang="en-US" sz="1600" dirty="0" smtClean="0"/>
              <a:t> </a:t>
            </a:r>
            <a:br>
              <a:rPr lang="en-US" sz="1600" dirty="0" smtClean="0"/>
            </a:br>
            <a:r>
              <a:rPr lang="en-US" sz="1600" dirty="0" smtClean="0"/>
              <a:t>&lt;/script&gt;</a:t>
            </a:r>
            <a:br>
              <a:rPr lang="en-US" sz="1600" dirty="0" smtClean="0"/>
            </a:br>
            <a:r>
              <a:rPr lang="en-US" sz="1600" dirty="0" smtClean="0"/>
              <a:t/>
            </a:r>
            <a:br>
              <a:rPr lang="en-US" sz="1600" dirty="0" smtClean="0"/>
            </a:br>
            <a:r>
              <a:rPr lang="en-US" sz="1600" dirty="0" smtClean="0"/>
              <a:t>&lt;body&gt;</a:t>
            </a:r>
            <a:br>
              <a:rPr lang="en-US" sz="1600" dirty="0" smtClean="0"/>
            </a:br>
            <a:r>
              <a:rPr lang="en-US" sz="1600" dirty="0" smtClean="0"/>
              <a:t>       &lt;h2&gt;JSON Object Creation in JavaScript&lt;/h2&gt; &lt;p&gt;</a:t>
            </a:r>
            <a:br>
              <a:rPr lang="en-US" sz="1600" dirty="0" smtClean="0"/>
            </a:br>
            <a:r>
              <a:rPr lang="en-US" sz="1600" dirty="0" smtClean="0"/>
              <a:t>        Name: &lt;span id="</a:t>
            </a:r>
            <a:r>
              <a:rPr lang="en-US" sz="1600" dirty="0" err="1" smtClean="0"/>
              <a:t>jname</a:t>
            </a:r>
            <a:r>
              <a:rPr lang="en-US" sz="1600" dirty="0" smtClean="0"/>
              <a:t>"&gt;&lt;/span&gt;&lt;</a:t>
            </a:r>
            <a:r>
              <a:rPr lang="en-US" sz="1600" dirty="0" err="1" smtClean="0"/>
              <a:t>br</a:t>
            </a:r>
            <a:r>
              <a:rPr lang="en-US" sz="1600" dirty="0" smtClean="0"/>
              <a:t> /&gt; </a:t>
            </a:r>
            <a:br>
              <a:rPr lang="en-US" sz="1600" dirty="0" smtClean="0"/>
            </a:br>
            <a:r>
              <a:rPr lang="en-US" sz="1600" dirty="0" smtClean="0"/>
              <a:t>        Age: &lt;span id="</a:t>
            </a:r>
            <a:r>
              <a:rPr lang="en-US" sz="1600" dirty="0" err="1" smtClean="0"/>
              <a:t>jage</a:t>
            </a:r>
            <a:r>
              <a:rPr lang="en-US" sz="1600" dirty="0" smtClean="0"/>
              <a:t>"&gt;&lt;/span&gt;&lt;</a:t>
            </a:r>
            <a:r>
              <a:rPr lang="en-US" sz="1600" dirty="0" err="1" smtClean="0"/>
              <a:t>br</a:t>
            </a:r>
            <a:r>
              <a:rPr lang="en-US" sz="1600" dirty="0" smtClean="0"/>
              <a:t> /&gt; </a:t>
            </a:r>
            <a:br>
              <a:rPr lang="en-US" sz="1600" dirty="0" smtClean="0"/>
            </a:br>
            <a:r>
              <a:rPr lang="en-US" sz="1600" dirty="0" smtClean="0"/>
              <a:t>        Address: &lt;span id="</a:t>
            </a:r>
            <a:r>
              <a:rPr lang="en-US" sz="1600" dirty="0" err="1" smtClean="0"/>
              <a:t>jstreet</a:t>
            </a:r>
            <a:r>
              <a:rPr lang="en-US" sz="1600" dirty="0" smtClean="0"/>
              <a:t>"&gt;&lt;/span&gt;&lt;</a:t>
            </a:r>
            <a:r>
              <a:rPr lang="en-US" sz="1600" dirty="0" err="1" smtClean="0"/>
              <a:t>br</a:t>
            </a:r>
            <a:r>
              <a:rPr lang="en-US" sz="1600" dirty="0" smtClean="0"/>
              <a:t> /&gt; </a:t>
            </a:r>
            <a:br>
              <a:rPr lang="en-US" sz="1600" dirty="0" smtClean="0"/>
            </a:br>
            <a:r>
              <a:rPr lang="en-US" sz="1600" dirty="0" smtClean="0"/>
              <a:t>        Phone: &lt;span id="</a:t>
            </a:r>
            <a:r>
              <a:rPr lang="en-US" sz="1600" dirty="0" err="1" smtClean="0"/>
              <a:t>jphone</a:t>
            </a:r>
            <a:r>
              <a:rPr lang="en-US" sz="1600" dirty="0" smtClean="0"/>
              <a:t>"&gt;&lt;/span&gt;&lt;</a:t>
            </a:r>
            <a:r>
              <a:rPr lang="en-US" sz="1600" dirty="0" err="1" smtClean="0"/>
              <a:t>br</a:t>
            </a:r>
            <a:r>
              <a:rPr lang="en-US" sz="1600" dirty="0" smtClean="0"/>
              <a:t> /&gt; </a:t>
            </a:r>
            <a:br>
              <a:rPr lang="en-US" sz="1600" dirty="0" smtClean="0"/>
            </a:br>
            <a:r>
              <a:rPr lang="en-US" sz="1600" dirty="0" smtClean="0"/>
              <a:t>   &lt;/p&gt; </a:t>
            </a:r>
          </a:p>
          <a:p>
            <a:pPr>
              <a:buNone/>
            </a:pPr>
            <a:r>
              <a:rPr lang="en-US" sz="1600" dirty="0" smtClean="0"/>
              <a:t>  &lt;/body&gt;</a:t>
            </a:r>
          </a:p>
          <a:p>
            <a:pPr>
              <a:buNone/>
            </a:pPr>
            <a:r>
              <a:rPr lang="en-US" sz="1600" dirty="0" smtClean="0"/>
              <a:t>&lt;/html&gt;</a:t>
            </a:r>
          </a:p>
          <a:p>
            <a:r>
              <a:rPr lang="en-US" sz="1100" dirty="0" smtClean="0"/>
              <a:t/>
            </a:r>
            <a:br>
              <a:rPr lang="en-US" sz="1100" dirty="0" smtClean="0"/>
            </a:br>
            <a:endParaRPr lang="en-US" sz="1100" dirty="0"/>
          </a:p>
        </p:txBody>
      </p:sp>
      <p:cxnSp>
        <p:nvCxnSpPr>
          <p:cNvPr id="5" name="Straight Arrow Connector 4"/>
          <p:cNvCxnSpPr/>
          <p:nvPr/>
        </p:nvCxnSpPr>
        <p:spPr>
          <a:xfrm flipV="1">
            <a:off x="3962400" y="1676400"/>
            <a:ext cx="1295400" cy="1524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6" name="Oval 5"/>
          <p:cNvSpPr/>
          <p:nvPr/>
        </p:nvSpPr>
        <p:spPr>
          <a:xfrm>
            <a:off x="5410200" y="1143000"/>
            <a:ext cx="1828800" cy="1066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a:p>
        </p:txBody>
      </p:sp>
      <p:sp>
        <p:nvSpPr>
          <p:cNvPr id="7" name="TextBox 6"/>
          <p:cNvSpPr txBox="1"/>
          <p:nvPr/>
        </p:nvSpPr>
        <p:spPr>
          <a:xfrm>
            <a:off x="5562600" y="1295400"/>
            <a:ext cx="1524000" cy="646331"/>
          </a:xfrm>
          <a:prstGeom prst="rect">
            <a:avLst/>
          </a:prstGeom>
          <a:noFill/>
        </p:spPr>
        <p:txBody>
          <a:bodyPr wrap="square" rtlCol="0">
            <a:spAutoFit/>
          </a:bodyPr>
          <a:lstStyle/>
          <a:p>
            <a:r>
              <a:rPr lang="en-US" dirty="0" smtClean="0"/>
              <a:t>JSON Object holding data</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365760"/>
          </a:xfrm>
        </p:spPr>
        <p:txBody>
          <a:bodyPr>
            <a:normAutofit fontScale="90000"/>
          </a:bodyPr>
          <a:lstStyle/>
          <a:p>
            <a:r>
              <a:rPr lang="en-US" dirty="0" smtClean="0"/>
              <a:t>JSON SYNTAX</a:t>
            </a:r>
            <a:endParaRPr lang="en-US" dirty="0"/>
          </a:p>
        </p:txBody>
      </p:sp>
      <p:sp>
        <p:nvSpPr>
          <p:cNvPr id="3" name="Content Placeholder 2"/>
          <p:cNvSpPr>
            <a:spLocks noGrp="1"/>
          </p:cNvSpPr>
          <p:nvPr>
            <p:ph idx="1"/>
          </p:nvPr>
        </p:nvSpPr>
        <p:spPr>
          <a:xfrm>
            <a:off x="457200" y="914400"/>
            <a:ext cx="7239000" cy="5541336"/>
          </a:xfrm>
        </p:spPr>
        <p:txBody>
          <a:bodyPr/>
          <a:lstStyle/>
          <a:p>
            <a:pPr>
              <a:buNone/>
            </a:pPr>
            <a:r>
              <a:rPr lang="en-US" u="sng" dirty="0" smtClean="0"/>
              <a:t>JSON syntax is a subset of JavaScript Syntax</a:t>
            </a:r>
          </a:p>
          <a:p>
            <a:pPr>
              <a:buNone/>
            </a:pPr>
            <a:endParaRPr lang="en-US" dirty="0" smtClean="0"/>
          </a:p>
          <a:p>
            <a:r>
              <a:rPr lang="en-US" dirty="0" smtClean="0"/>
              <a:t>Data is in Name/Value Pairs</a:t>
            </a:r>
          </a:p>
          <a:p>
            <a:pPr>
              <a:buNone/>
            </a:pPr>
            <a:endParaRPr lang="en-US" dirty="0" smtClean="0"/>
          </a:p>
          <a:p>
            <a:r>
              <a:rPr lang="en-US" dirty="0" smtClean="0"/>
              <a:t>Data is separated by commas.</a:t>
            </a:r>
          </a:p>
          <a:p>
            <a:pPr>
              <a:buNone/>
            </a:pPr>
            <a:endParaRPr lang="en-US" dirty="0" smtClean="0"/>
          </a:p>
          <a:p>
            <a:r>
              <a:rPr lang="en-US" dirty="0" smtClean="0"/>
              <a:t>Curly brackets hold Objects</a:t>
            </a:r>
          </a:p>
          <a:p>
            <a:pPr>
              <a:buNone/>
            </a:pPr>
            <a:endParaRPr lang="en-US" dirty="0" smtClean="0"/>
          </a:p>
          <a:p>
            <a:r>
              <a:rPr lang="en-US" dirty="0" smtClean="0"/>
              <a:t>Square brackets hold arrays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lstStyle/>
          <a:p>
            <a:r>
              <a:rPr lang="en-US" dirty="0" err="1" smtClean="0"/>
              <a:t>Json</a:t>
            </a:r>
            <a:r>
              <a:rPr lang="en-US" dirty="0" smtClean="0"/>
              <a:t> name/value pairs</a:t>
            </a:r>
            <a:endParaRPr lang="en-US" dirty="0"/>
          </a:p>
        </p:txBody>
      </p:sp>
      <p:sp>
        <p:nvSpPr>
          <p:cNvPr id="3" name="Content Placeholder 2"/>
          <p:cNvSpPr>
            <a:spLocks noGrp="1"/>
          </p:cNvSpPr>
          <p:nvPr>
            <p:ph idx="1"/>
          </p:nvPr>
        </p:nvSpPr>
        <p:spPr>
          <a:xfrm>
            <a:off x="457200" y="1219200"/>
            <a:ext cx="7239000" cy="5236536"/>
          </a:xfrm>
        </p:spPr>
        <p:txBody>
          <a:bodyPr/>
          <a:lstStyle/>
          <a:p>
            <a:pPr>
              <a:buNone/>
            </a:pPr>
            <a:endParaRPr lang="en-US" dirty="0" smtClean="0"/>
          </a:p>
          <a:p>
            <a:r>
              <a:rPr lang="en-US" dirty="0" smtClean="0"/>
              <a:t>JSON data is written in name/value pairs</a:t>
            </a:r>
          </a:p>
          <a:p>
            <a:pPr>
              <a:buNone/>
            </a:pPr>
            <a:endParaRPr lang="en-US" dirty="0" smtClean="0"/>
          </a:p>
          <a:p>
            <a:pPr>
              <a:buNone/>
            </a:pPr>
            <a:r>
              <a:rPr lang="en-US" dirty="0" smtClean="0"/>
              <a:t> </a:t>
            </a:r>
            <a:r>
              <a:rPr lang="en-US" sz="2000" dirty="0" smtClean="0"/>
              <a:t>A name/value pair consists of a field name (in double quotes), followed by a colon, followed by a value:</a:t>
            </a:r>
            <a:endParaRPr lang="en-US" dirty="0" smtClean="0"/>
          </a:p>
          <a:p>
            <a:pPr>
              <a:buNone/>
            </a:pPr>
            <a:r>
              <a:rPr lang="en-US" dirty="0" smtClean="0"/>
              <a:t>      “</a:t>
            </a:r>
            <a:r>
              <a:rPr lang="en-US" dirty="0" err="1" smtClean="0"/>
              <a:t>firstname</a:t>
            </a:r>
            <a:r>
              <a:rPr lang="en-US" dirty="0" smtClean="0"/>
              <a:t>” : “John”</a:t>
            </a:r>
          </a:p>
          <a:p>
            <a:pPr>
              <a:buNone/>
            </a:pPr>
            <a:endParaRPr lang="en-US" dirty="0" smtClean="0"/>
          </a:p>
          <a:p>
            <a:r>
              <a:rPr lang="en-US" sz="2000" dirty="0" smtClean="0"/>
              <a:t>This is simple to understand, and equals to the JavaScript statement:</a:t>
            </a:r>
          </a:p>
          <a:p>
            <a:pPr>
              <a:buNone/>
            </a:pPr>
            <a:r>
              <a:rPr lang="en-US" dirty="0" smtClean="0"/>
              <a:t>       </a:t>
            </a:r>
            <a:r>
              <a:rPr lang="en-US" dirty="0" err="1" smtClean="0"/>
              <a:t>firstName</a:t>
            </a:r>
            <a:r>
              <a:rPr lang="en-US" dirty="0" smtClean="0"/>
              <a:t> = "John"</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lstStyle/>
          <a:p>
            <a:r>
              <a:rPr lang="en-US" dirty="0" err="1" smtClean="0"/>
              <a:t>Json</a:t>
            </a:r>
            <a:r>
              <a:rPr lang="en-US" dirty="0" smtClean="0"/>
              <a:t> values</a:t>
            </a:r>
            <a:endParaRPr lang="en-US" dirty="0"/>
          </a:p>
        </p:txBody>
      </p:sp>
      <p:sp>
        <p:nvSpPr>
          <p:cNvPr id="3" name="Content Placeholder 2"/>
          <p:cNvSpPr>
            <a:spLocks noGrp="1"/>
          </p:cNvSpPr>
          <p:nvPr>
            <p:ph idx="1"/>
          </p:nvPr>
        </p:nvSpPr>
        <p:spPr>
          <a:xfrm>
            <a:off x="457200" y="1295400"/>
            <a:ext cx="7239000" cy="5160336"/>
          </a:xfrm>
        </p:spPr>
        <p:txBody>
          <a:bodyPr/>
          <a:lstStyle/>
          <a:p>
            <a:r>
              <a:rPr lang="en-US" dirty="0" smtClean="0"/>
              <a:t>JSON values can be </a:t>
            </a:r>
          </a:p>
          <a:p>
            <a:pPr>
              <a:buNone/>
            </a:pPr>
            <a:endParaRPr lang="en-US" dirty="0" smtClean="0"/>
          </a:p>
          <a:p>
            <a:pPr marL="749808" lvl="1" indent="-457200">
              <a:buFont typeface="+mj-lt"/>
              <a:buAutoNum type="arabicPeriod"/>
            </a:pPr>
            <a:r>
              <a:rPr lang="en-US" dirty="0" smtClean="0"/>
              <a:t>   </a:t>
            </a:r>
            <a:r>
              <a:rPr lang="en-US" b="1" dirty="0" smtClean="0"/>
              <a:t>A number (Integer or Floating Point)</a:t>
            </a:r>
          </a:p>
          <a:p>
            <a:pPr marL="749808" lvl="1" indent="-457200">
              <a:buFont typeface="+mj-lt"/>
              <a:buAutoNum type="arabicPeriod"/>
            </a:pPr>
            <a:r>
              <a:rPr lang="en-US" b="1" dirty="0" smtClean="0"/>
              <a:t>   A String (in Double Quotes)</a:t>
            </a:r>
          </a:p>
          <a:p>
            <a:pPr marL="749808" lvl="1" indent="-457200">
              <a:buFont typeface="+mj-lt"/>
              <a:buAutoNum type="arabicPeriod"/>
            </a:pPr>
            <a:r>
              <a:rPr lang="en-US" b="1" dirty="0" smtClean="0"/>
              <a:t>   A Boolean (True or False)</a:t>
            </a:r>
          </a:p>
          <a:p>
            <a:pPr marL="749808" lvl="1" indent="-457200">
              <a:buFont typeface="+mj-lt"/>
              <a:buAutoNum type="arabicPeriod"/>
            </a:pPr>
            <a:r>
              <a:rPr lang="en-US" b="1" dirty="0" smtClean="0"/>
              <a:t>   An Array in Square [] Brackets</a:t>
            </a:r>
          </a:p>
          <a:p>
            <a:pPr marL="749808" lvl="1" indent="-457200">
              <a:buFont typeface="+mj-lt"/>
              <a:buAutoNum type="arabicPeriod"/>
            </a:pPr>
            <a:r>
              <a:rPr lang="en-US" b="1" dirty="0" smtClean="0"/>
              <a:t>   An Object in Curly { } brackets</a:t>
            </a:r>
          </a:p>
          <a:p>
            <a:pPr marL="749808" lvl="1" indent="-457200">
              <a:buFont typeface="+mj-lt"/>
              <a:buAutoNum type="arabicPeriod"/>
            </a:pPr>
            <a:r>
              <a:rPr lang="en-US" b="1" dirty="0" smtClean="0"/>
              <a:t>   NULL</a:t>
            </a:r>
            <a:endParaRPr lang="en-US"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lstStyle/>
          <a:p>
            <a:r>
              <a:rPr lang="en-US" dirty="0" smtClean="0"/>
              <a:t>JSON OBJECTS</a:t>
            </a:r>
            <a:endParaRPr lang="en-US" dirty="0"/>
          </a:p>
        </p:txBody>
      </p:sp>
      <p:sp>
        <p:nvSpPr>
          <p:cNvPr id="3" name="Content Placeholder 2"/>
          <p:cNvSpPr>
            <a:spLocks noGrp="1"/>
          </p:cNvSpPr>
          <p:nvPr>
            <p:ph idx="1"/>
          </p:nvPr>
        </p:nvSpPr>
        <p:spPr/>
        <p:txBody>
          <a:bodyPr/>
          <a:lstStyle/>
          <a:p>
            <a:pPr>
              <a:buNone/>
            </a:pPr>
            <a:r>
              <a:rPr lang="en-US" sz="2400" dirty="0" smtClean="0"/>
              <a:t>JSON objects are written using  curly brackets</a:t>
            </a:r>
            <a:r>
              <a:rPr lang="en-US" dirty="0" smtClean="0"/>
              <a:t>.</a:t>
            </a:r>
          </a:p>
          <a:p>
            <a:pPr>
              <a:buNone/>
            </a:pPr>
            <a:endParaRPr lang="en-US" dirty="0" smtClean="0"/>
          </a:p>
          <a:p>
            <a:pPr>
              <a:buNone/>
            </a:pPr>
            <a:r>
              <a:rPr lang="en-US" sz="2400" dirty="0" smtClean="0"/>
              <a:t>Object can contain multiple name/value pairs</a:t>
            </a:r>
            <a:r>
              <a:rPr lang="en-US" dirty="0" smtClean="0"/>
              <a:t>.</a:t>
            </a:r>
          </a:p>
          <a:p>
            <a:pPr>
              <a:buNone/>
            </a:pPr>
            <a:endParaRPr lang="en-US" dirty="0" smtClean="0"/>
          </a:p>
          <a:p>
            <a:pPr>
              <a:buNone/>
            </a:pPr>
            <a:r>
              <a:rPr lang="en-US" sz="2400" dirty="0" smtClean="0"/>
              <a:t>{“</a:t>
            </a:r>
            <a:r>
              <a:rPr lang="en-US" sz="2400" dirty="0" err="1" smtClean="0">
                <a:solidFill>
                  <a:srgbClr val="C00000"/>
                </a:solidFill>
              </a:rPr>
              <a:t>firstname</a:t>
            </a:r>
            <a:r>
              <a:rPr lang="en-US" sz="2400" dirty="0" smtClean="0"/>
              <a:t>”: “John”, “</a:t>
            </a:r>
            <a:r>
              <a:rPr lang="en-US" sz="2400" dirty="0" err="1" smtClean="0">
                <a:solidFill>
                  <a:srgbClr val="C00000"/>
                </a:solidFill>
              </a:rPr>
              <a:t>lastname</a:t>
            </a:r>
            <a:r>
              <a:rPr lang="en-US" sz="2400" dirty="0" smtClean="0"/>
              <a:t>” : “Smith”}</a:t>
            </a:r>
          </a:p>
          <a:p>
            <a:pPr>
              <a:buNone/>
            </a:pPr>
            <a:endParaRPr lang="en-US" dirty="0" smtClean="0"/>
          </a:p>
          <a:p>
            <a:pPr>
              <a:buNone/>
            </a:pPr>
            <a:r>
              <a:rPr lang="en-US" sz="2400" dirty="0" smtClean="0"/>
              <a:t>This is also simple. It is equals to the JavaScript elements :</a:t>
            </a:r>
          </a:p>
          <a:p>
            <a:pPr>
              <a:buNone/>
            </a:pPr>
            <a:r>
              <a:rPr lang="en-US" sz="2400" dirty="0" smtClean="0"/>
              <a:t>   </a:t>
            </a:r>
            <a:r>
              <a:rPr lang="en-US" sz="2400" dirty="0" err="1" smtClean="0">
                <a:solidFill>
                  <a:srgbClr val="C00000"/>
                </a:solidFill>
              </a:rPr>
              <a:t>firstname</a:t>
            </a:r>
            <a:r>
              <a:rPr lang="en-US" sz="2400" dirty="0" smtClean="0"/>
              <a:t>=“John”</a:t>
            </a:r>
          </a:p>
          <a:p>
            <a:pPr>
              <a:buNone/>
            </a:pPr>
            <a:r>
              <a:rPr lang="en-US" sz="2400" dirty="0" smtClean="0"/>
              <a:t>   </a:t>
            </a:r>
            <a:r>
              <a:rPr lang="en-US" sz="2400" dirty="0" err="1" smtClean="0">
                <a:solidFill>
                  <a:srgbClr val="C00000"/>
                </a:solidFill>
              </a:rPr>
              <a:t>lastname</a:t>
            </a:r>
            <a:r>
              <a:rPr lang="en-US" sz="2400" dirty="0" smtClean="0"/>
              <a:t>= “Smith”</a:t>
            </a:r>
            <a:endParaRPr 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441960"/>
          </a:xfrm>
        </p:spPr>
        <p:txBody>
          <a:bodyPr>
            <a:normAutofit fontScale="90000"/>
          </a:bodyPr>
          <a:lstStyle/>
          <a:p>
            <a:r>
              <a:rPr lang="en-US" dirty="0" err="1" smtClean="0"/>
              <a:t>Json</a:t>
            </a:r>
            <a:r>
              <a:rPr lang="en-US" dirty="0" smtClean="0"/>
              <a:t> arrays</a:t>
            </a:r>
            <a:endParaRPr lang="en-US" dirty="0"/>
          </a:p>
        </p:txBody>
      </p:sp>
      <p:sp>
        <p:nvSpPr>
          <p:cNvPr id="3" name="Content Placeholder 2"/>
          <p:cNvSpPr>
            <a:spLocks noGrp="1"/>
          </p:cNvSpPr>
          <p:nvPr>
            <p:ph idx="1"/>
          </p:nvPr>
        </p:nvSpPr>
        <p:spPr>
          <a:xfrm>
            <a:off x="457200" y="838200"/>
            <a:ext cx="7239000" cy="5617536"/>
          </a:xfrm>
        </p:spPr>
        <p:txBody>
          <a:bodyPr/>
          <a:lstStyle/>
          <a:p>
            <a:r>
              <a:rPr lang="en-US" sz="2400" dirty="0" smtClean="0"/>
              <a:t>JSON arrays are written inside square brackets.</a:t>
            </a:r>
          </a:p>
          <a:p>
            <a:r>
              <a:rPr lang="en-US" sz="2400" dirty="0" smtClean="0"/>
              <a:t>An array can contain multiple objects:</a:t>
            </a:r>
          </a:p>
          <a:p>
            <a:pPr>
              <a:buNone/>
            </a:pPr>
            <a:endParaRPr lang="en-US" sz="2400" dirty="0" smtClean="0"/>
          </a:p>
          <a:p>
            <a:pPr>
              <a:buNone/>
            </a:pPr>
            <a:r>
              <a:rPr lang="en-US" sz="2400" dirty="0" err="1" smtClean="0">
                <a:solidFill>
                  <a:srgbClr val="C00000"/>
                </a:solidFill>
              </a:rPr>
              <a:t>var</a:t>
            </a:r>
            <a:r>
              <a:rPr lang="en-US" sz="2400" dirty="0" smtClean="0">
                <a:solidFill>
                  <a:srgbClr val="C00000"/>
                </a:solidFill>
              </a:rPr>
              <a:t> employees = [</a:t>
            </a:r>
            <a:br>
              <a:rPr lang="en-US" sz="2400" dirty="0" smtClean="0">
                <a:solidFill>
                  <a:srgbClr val="C00000"/>
                </a:solidFill>
              </a:rPr>
            </a:br>
            <a:r>
              <a:rPr lang="en-US" sz="2400" dirty="0" smtClean="0">
                <a:solidFill>
                  <a:srgbClr val="C00000"/>
                </a:solidFill>
              </a:rPr>
              <a:t>{ "</a:t>
            </a:r>
            <a:r>
              <a:rPr lang="en-US" sz="2400" dirty="0" err="1" smtClean="0">
                <a:solidFill>
                  <a:srgbClr val="C00000"/>
                </a:solidFill>
              </a:rPr>
              <a:t>firstName</a:t>
            </a:r>
            <a:r>
              <a:rPr lang="en-US" sz="2400" dirty="0" smtClean="0">
                <a:solidFill>
                  <a:srgbClr val="C00000"/>
                </a:solidFill>
              </a:rPr>
              <a:t>":"John" , "</a:t>
            </a:r>
            <a:r>
              <a:rPr lang="en-US" sz="2400" dirty="0" err="1" smtClean="0">
                <a:solidFill>
                  <a:srgbClr val="C00000"/>
                </a:solidFill>
              </a:rPr>
              <a:t>lastName</a:t>
            </a:r>
            <a:r>
              <a:rPr lang="en-US" sz="2400" dirty="0" smtClean="0">
                <a:solidFill>
                  <a:srgbClr val="C00000"/>
                </a:solidFill>
              </a:rPr>
              <a:t>":"Doe" }, </a:t>
            </a:r>
            <a:br>
              <a:rPr lang="en-US" sz="2400" dirty="0" smtClean="0">
                <a:solidFill>
                  <a:srgbClr val="C00000"/>
                </a:solidFill>
              </a:rPr>
            </a:br>
            <a:r>
              <a:rPr lang="en-US" sz="2400" dirty="0" smtClean="0">
                <a:solidFill>
                  <a:srgbClr val="C00000"/>
                </a:solidFill>
              </a:rPr>
              <a:t>{ "</a:t>
            </a:r>
            <a:r>
              <a:rPr lang="en-US" sz="2400" dirty="0" err="1" smtClean="0">
                <a:solidFill>
                  <a:srgbClr val="C00000"/>
                </a:solidFill>
              </a:rPr>
              <a:t>firstName</a:t>
            </a:r>
            <a:r>
              <a:rPr lang="en-US" sz="2400" dirty="0" smtClean="0">
                <a:solidFill>
                  <a:srgbClr val="C00000"/>
                </a:solidFill>
              </a:rPr>
              <a:t>":"Anna" , "</a:t>
            </a:r>
            <a:r>
              <a:rPr lang="en-US" sz="2400" dirty="0" err="1" smtClean="0">
                <a:solidFill>
                  <a:srgbClr val="C00000"/>
                </a:solidFill>
              </a:rPr>
              <a:t>lastName</a:t>
            </a:r>
            <a:r>
              <a:rPr lang="en-US" sz="2400" dirty="0" smtClean="0">
                <a:solidFill>
                  <a:srgbClr val="C00000"/>
                </a:solidFill>
              </a:rPr>
              <a:t>":"Smith" }, </a:t>
            </a:r>
            <a:br>
              <a:rPr lang="en-US" sz="2400" dirty="0" smtClean="0">
                <a:solidFill>
                  <a:srgbClr val="C00000"/>
                </a:solidFill>
              </a:rPr>
            </a:br>
            <a:r>
              <a:rPr lang="en-US" sz="2400" dirty="0" smtClean="0">
                <a:solidFill>
                  <a:srgbClr val="C00000"/>
                </a:solidFill>
              </a:rPr>
              <a:t>{ "</a:t>
            </a:r>
            <a:r>
              <a:rPr lang="en-US" sz="2400" dirty="0" err="1" smtClean="0">
                <a:solidFill>
                  <a:srgbClr val="C00000"/>
                </a:solidFill>
              </a:rPr>
              <a:t>firstName</a:t>
            </a:r>
            <a:r>
              <a:rPr lang="en-US" sz="2400" dirty="0" smtClean="0">
                <a:solidFill>
                  <a:srgbClr val="C00000"/>
                </a:solidFill>
              </a:rPr>
              <a:t>":"Peter" , "</a:t>
            </a:r>
            <a:r>
              <a:rPr lang="en-US" sz="2400" dirty="0" err="1" smtClean="0">
                <a:solidFill>
                  <a:srgbClr val="C00000"/>
                </a:solidFill>
              </a:rPr>
              <a:t>lastName</a:t>
            </a:r>
            <a:r>
              <a:rPr lang="en-US" sz="2400" dirty="0" smtClean="0">
                <a:solidFill>
                  <a:srgbClr val="C00000"/>
                </a:solidFill>
              </a:rPr>
              <a:t>": "Jones" }</a:t>
            </a:r>
            <a:br>
              <a:rPr lang="en-US" sz="2400" dirty="0" smtClean="0">
                <a:solidFill>
                  <a:srgbClr val="C00000"/>
                </a:solidFill>
              </a:rPr>
            </a:br>
            <a:r>
              <a:rPr lang="en-US" sz="2400" dirty="0" smtClean="0">
                <a:solidFill>
                  <a:srgbClr val="C00000"/>
                </a:solidFill>
              </a:rPr>
              <a:t>];</a:t>
            </a:r>
          </a:p>
          <a:p>
            <a:pPr>
              <a:buNone/>
            </a:pPr>
            <a:endParaRPr lang="en-US" sz="2400" dirty="0" smtClean="0"/>
          </a:p>
          <a:p>
            <a:pPr>
              <a:buNone/>
            </a:pPr>
            <a:r>
              <a:rPr lang="en-US" sz="2400" dirty="0" smtClean="0"/>
              <a:t>The first entry in the JavaScript object array can be accessed like this:</a:t>
            </a:r>
          </a:p>
          <a:p>
            <a:pPr>
              <a:buNone/>
            </a:pPr>
            <a:endParaRPr lang="en-US" sz="2400" dirty="0" smtClean="0"/>
          </a:p>
          <a:p>
            <a:pPr>
              <a:buNone/>
            </a:pPr>
            <a:r>
              <a:rPr lang="en-US" sz="2400" dirty="0" smtClean="0"/>
              <a:t>   employees[0].</a:t>
            </a:r>
            <a:r>
              <a:rPr lang="en-US" sz="2400" dirty="0" err="1" smtClean="0"/>
              <a:t>lastName</a:t>
            </a:r>
            <a:r>
              <a:rPr lang="en-US" sz="2400" dirty="0" smtClean="0"/>
              <a:t>;</a:t>
            </a: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lstStyle/>
          <a:p>
            <a:r>
              <a:rPr lang="en-US" dirty="0" err="1" smtClean="0"/>
              <a:t>Json</a:t>
            </a:r>
            <a:r>
              <a:rPr lang="en-US" dirty="0" smtClean="0"/>
              <a:t> files</a:t>
            </a:r>
            <a:endParaRPr lang="en-US" dirty="0"/>
          </a:p>
        </p:txBody>
      </p:sp>
      <p:sp>
        <p:nvSpPr>
          <p:cNvPr id="3" name="Content Placeholder 2"/>
          <p:cNvSpPr>
            <a:spLocks noGrp="1"/>
          </p:cNvSpPr>
          <p:nvPr>
            <p:ph idx="1"/>
          </p:nvPr>
        </p:nvSpPr>
        <p:spPr>
          <a:xfrm>
            <a:off x="457200" y="1143000"/>
            <a:ext cx="7467600" cy="5312736"/>
          </a:xfrm>
        </p:spPr>
        <p:txBody>
          <a:bodyPr/>
          <a:lstStyle/>
          <a:p>
            <a:endParaRPr lang="en-US" dirty="0" smtClean="0"/>
          </a:p>
          <a:p>
            <a:pPr>
              <a:buNone/>
            </a:pPr>
            <a:endParaRPr lang="en-US" dirty="0" smtClean="0"/>
          </a:p>
          <a:p>
            <a:r>
              <a:rPr lang="en-US" sz="2400" dirty="0" smtClean="0"/>
              <a:t>The file type for JSON files is ".</a:t>
            </a:r>
            <a:r>
              <a:rPr lang="en-US" sz="2400" dirty="0" err="1" smtClean="0"/>
              <a:t>json</a:t>
            </a:r>
            <a:r>
              <a:rPr lang="en-US" sz="2400" dirty="0" smtClean="0"/>
              <a:t>" </a:t>
            </a:r>
          </a:p>
          <a:p>
            <a:r>
              <a:rPr lang="en-US" sz="2400" dirty="0" smtClean="0"/>
              <a:t>The MIME type for JSON text is "application/</a:t>
            </a:r>
            <a:r>
              <a:rPr lang="en-US" sz="2400" dirty="0" err="1" smtClean="0"/>
              <a:t>json</a:t>
            </a:r>
            <a:r>
              <a:rPr lang="en-US" sz="2400" dirty="0" smtClean="0"/>
              <a:t>" </a:t>
            </a:r>
          </a:p>
          <a:p>
            <a:endParaRPr lang="en-US" sz="2400" dirty="0" smtClean="0"/>
          </a:p>
          <a:p>
            <a:r>
              <a:rPr lang="en-US" sz="2400" dirty="0" smtClean="0"/>
              <a:t>Character Encoding </a:t>
            </a:r>
          </a:p>
          <a:p>
            <a:pPr marL="749808" lvl="1" indent="-457200">
              <a:buFont typeface="+mj-lt"/>
              <a:buAutoNum type="arabicPeriod"/>
            </a:pPr>
            <a:r>
              <a:rPr lang="en-US" sz="2100" dirty="0" smtClean="0"/>
              <a:t> Strictly UNICODE</a:t>
            </a:r>
          </a:p>
          <a:p>
            <a:pPr marL="749808" lvl="1" indent="-457200">
              <a:buFont typeface="+mj-lt"/>
              <a:buAutoNum type="arabicPeriod"/>
            </a:pPr>
            <a:r>
              <a:rPr lang="en-US" sz="2100" dirty="0" smtClean="0"/>
              <a:t> Default: utf-8</a:t>
            </a:r>
          </a:p>
          <a:p>
            <a:pPr marL="749808" lvl="1" indent="-457200">
              <a:buFont typeface="+mj-lt"/>
              <a:buAutoNum type="arabicPeriod"/>
            </a:pPr>
            <a:r>
              <a:rPr lang="en-US" sz="2100" dirty="0" smtClean="0"/>
              <a:t> Utf-16 and utf-32 are allowed</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239000" cy="457200"/>
          </a:xfrm>
        </p:spPr>
        <p:txBody>
          <a:bodyPr>
            <a:noAutofit/>
          </a:bodyPr>
          <a:lstStyle/>
          <a:p>
            <a:r>
              <a:rPr lang="en-US" sz="2000" dirty="0" smtClean="0"/>
              <a:t>Converting a </a:t>
            </a:r>
            <a:r>
              <a:rPr lang="en-US" sz="2000" dirty="0" err="1" smtClean="0"/>
              <a:t>json</a:t>
            </a:r>
            <a:r>
              <a:rPr lang="en-US" sz="2000" dirty="0" smtClean="0"/>
              <a:t> text to a </a:t>
            </a:r>
            <a:r>
              <a:rPr lang="en-US" sz="2000" dirty="0" err="1" smtClean="0"/>
              <a:t>javascript</a:t>
            </a:r>
            <a:r>
              <a:rPr lang="en-US" sz="2000" dirty="0" smtClean="0"/>
              <a:t> object</a:t>
            </a:r>
            <a:endParaRPr lang="en-US" sz="2000" dirty="0"/>
          </a:p>
        </p:txBody>
      </p:sp>
      <p:sp>
        <p:nvSpPr>
          <p:cNvPr id="3" name="Content Placeholder 2"/>
          <p:cNvSpPr>
            <a:spLocks noGrp="1"/>
          </p:cNvSpPr>
          <p:nvPr>
            <p:ph idx="1"/>
          </p:nvPr>
        </p:nvSpPr>
        <p:spPr>
          <a:xfrm>
            <a:off x="457200" y="685800"/>
            <a:ext cx="7239000" cy="5943600"/>
          </a:xfrm>
        </p:spPr>
        <p:txBody>
          <a:bodyPr>
            <a:normAutofit/>
          </a:bodyPr>
          <a:lstStyle/>
          <a:p>
            <a:r>
              <a:rPr lang="en-US" sz="1800" dirty="0" smtClean="0"/>
              <a:t>One of the most common use of JSON is to fetch JSON data from a web server (as a file or as an </a:t>
            </a:r>
            <a:r>
              <a:rPr lang="en-US" sz="1800" dirty="0" err="1" smtClean="0"/>
              <a:t>HttpRequest</a:t>
            </a:r>
            <a:r>
              <a:rPr lang="en-US" sz="1800" dirty="0" smtClean="0"/>
              <a:t>), convert the JSON data to a JavaScript object, and then use the data in a web page.</a:t>
            </a:r>
          </a:p>
          <a:p>
            <a:r>
              <a:rPr lang="en-US" sz="1800" dirty="0" smtClean="0"/>
              <a:t>For simplicity, this can be demonstrated by using a string as input (instead of a file).</a:t>
            </a:r>
          </a:p>
          <a:p>
            <a:endParaRPr lang="en-US" sz="1800" dirty="0" smtClean="0"/>
          </a:p>
          <a:p>
            <a:pPr>
              <a:buNone/>
            </a:pPr>
            <a:r>
              <a:rPr lang="en-US" sz="1800" dirty="0" smtClean="0">
                <a:solidFill>
                  <a:srgbClr val="C00000"/>
                </a:solidFill>
              </a:rPr>
              <a:t>  </a:t>
            </a:r>
            <a:r>
              <a:rPr lang="en-US" sz="1800" dirty="0" err="1" smtClean="0">
                <a:solidFill>
                  <a:srgbClr val="C00000"/>
                </a:solidFill>
              </a:rPr>
              <a:t>var</a:t>
            </a:r>
            <a:r>
              <a:rPr lang="en-US" sz="1800" dirty="0" smtClean="0">
                <a:solidFill>
                  <a:srgbClr val="C00000"/>
                </a:solidFill>
              </a:rPr>
              <a:t> txt = '{ "employees" : [' +</a:t>
            </a:r>
            <a:br>
              <a:rPr lang="en-US" sz="1800" dirty="0" smtClean="0">
                <a:solidFill>
                  <a:srgbClr val="C00000"/>
                </a:solidFill>
              </a:rPr>
            </a:br>
            <a:r>
              <a:rPr lang="en-US" sz="1800" dirty="0" smtClean="0">
                <a:solidFill>
                  <a:srgbClr val="C00000"/>
                </a:solidFill>
              </a:rPr>
              <a:t>'{ "</a:t>
            </a:r>
            <a:r>
              <a:rPr lang="en-US" sz="1800" dirty="0" err="1" smtClean="0">
                <a:solidFill>
                  <a:srgbClr val="C00000"/>
                </a:solidFill>
              </a:rPr>
              <a:t>firstName</a:t>
            </a:r>
            <a:r>
              <a:rPr lang="en-US" sz="1800" dirty="0" smtClean="0">
                <a:solidFill>
                  <a:srgbClr val="C00000"/>
                </a:solidFill>
              </a:rPr>
              <a:t>":"John" , "</a:t>
            </a:r>
            <a:r>
              <a:rPr lang="en-US" sz="1800" dirty="0" err="1" smtClean="0">
                <a:solidFill>
                  <a:srgbClr val="C00000"/>
                </a:solidFill>
              </a:rPr>
              <a:t>lastName</a:t>
            </a:r>
            <a:r>
              <a:rPr lang="en-US" sz="1800" dirty="0" smtClean="0">
                <a:solidFill>
                  <a:srgbClr val="C00000"/>
                </a:solidFill>
              </a:rPr>
              <a:t>":"Doe" },' +</a:t>
            </a:r>
            <a:br>
              <a:rPr lang="en-US" sz="1800" dirty="0" smtClean="0">
                <a:solidFill>
                  <a:srgbClr val="C00000"/>
                </a:solidFill>
              </a:rPr>
            </a:br>
            <a:r>
              <a:rPr lang="en-US" sz="1800" dirty="0" smtClean="0">
                <a:solidFill>
                  <a:srgbClr val="C00000"/>
                </a:solidFill>
              </a:rPr>
              <a:t>'{ "</a:t>
            </a:r>
            <a:r>
              <a:rPr lang="en-US" sz="1800" dirty="0" err="1" smtClean="0">
                <a:solidFill>
                  <a:srgbClr val="C00000"/>
                </a:solidFill>
              </a:rPr>
              <a:t>firstName</a:t>
            </a:r>
            <a:r>
              <a:rPr lang="en-US" sz="1800" dirty="0" smtClean="0">
                <a:solidFill>
                  <a:srgbClr val="C00000"/>
                </a:solidFill>
              </a:rPr>
              <a:t>":"Anna" , "</a:t>
            </a:r>
            <a:r>
              <a:rPr lang="en-US" sz="1800" dirty="0" err="1" smtClean="0">
                <a:solidFill>
                  <a:srgbClr val="C00000"/>
                </a:solidFill>
              </a:rPr>
              <a:t>lastName</a:t>
            </a:r>
            <a:r>
              <a:rPr lang="en-US" sz="1800" dirty="0" smtClean="0">
                <a:solidFill>
                  <a:srgbClr val="C00000"/>
                </a:solidFill>
              </a:rPr>
              <a:t>":"Smith" },' +</a:t>
            </a:r>
            <a:br>
              <a:rPr lang="en-US" sz="1800" dirty="0" smtClean="0">
                <a:solidFill>
                  <a:srgbClr val="C00000"/>
                </a:solidFill>
              </a:rPr>
            </a:br>
            <a:r>
              <a:rPr lang="en-US" sz="1800" dirty="0" smtClean="0">
                <a:solidFill>
                  <a:srgbClr val="C00000"/>
                </a:solidFill>
              </a:rPr>
              <a:t>'{ "</a:t>
            </a:r>
            <a:r>
              <a:rPr lang="en-US" sz="1800" dirty="0" err="1" smtClean="0">
                <a:solidFill>
                  <a:srgbClr val="C00000"/>
                </a:solidFill>
              </a:rPr>
              <a:t>firstName</a:t>
            </a:r>
            <a:r>
              <a:rPr lang="en-US" sz="1800" dirty="0" smtClean="0">
                <a:solidFill>
                  <a:srgbClr val="C00000"/>
                </a:solidFill>
              </a:rPr>
              <a:t>":"Peter" , "</a:t>
            </a:r>
            <a:r>
              <a:rPr lang="en-US" sz="1800" dirty="0" err="1" smtClean="0">
                <a:solidFill>
                  <a:srgbClr val="C00000"/>
                </a:solidFill>
              </a:rPr>
              <a:t>lastName</a:t>
            </a:r>
            <a:r>
              <a:rPr lang="en-US" sz="1800" dirty="0" smtClean="0">
                <a:solidFill>
                  <a:srgbClr val="C00000"/>
                </a:solidFill>
              </a:rPr>
              <a:t>":"Jones" } ]}';</a:t>
            </a:r>
          </a:p>
          <a:p>
            <a:pPr>
              <a:buNone/>
            </a:pPr>
            <a:endParaRPr lang="en-US" sz="1800" dirty="0" smtClean="0"/>
          </a:p>
          <a:p>
            <a:r>
              <a:rPr lang="en-US" sz="1800" dirty="0" smtClean="0"/>
              <a:t>Since JSON syntax is a subset of JavaScript syntax, the JavaScript function </a:t>
            </a:r>
            <a:r>
              <a:rPr lang="en-US" sz="1800" dirty="0" err="1" smtClean="0"/>
              <a:t>eval</a:t>
            </a:r>
            <a:r>
              <a:rPr lang="en-US" sz="1800" dirty="0" smtClean="0"/>
              <a:t>() can be used to convert a JSON text into a JavaScript object.</a:t>
            </a:r>
          </a:p>
          <a:p>
            <a:r>
              <a:rPr lang="en-US" sz="1800" dirty="0" smtClean="0"/>
              <a:t>The </a:t>
            </a:r>
            <a:r>
              <a:rPr lang="en-US" sz="1800" dirty="0" err="1" smtClean="0"/>
              <a:t>eval</a:t>
            </a:r>
            <a:r>
              <a:rPr lang="en-US" sz="1800" dirty="0" smtClean="0"/>
              <a:t>() function uses the JavaScript compiler which will parse the JSON text and produce a JavaScript object. The text must be wrapped in parenthesis to avoid a syntax error:</a:t>
            </a:r>
          </a:p>
          <a:p>
            <a:pPr>
              <a:buNone/>
            </a:pPr>
            <a:r>
              <a:rPr lang="en-US" sz="1800" dirty="0" smtClean="0"/>
              <a:t>           </a:t>
            </a:r>
            <a:r>
              <a:rPr lang="en-US" sz="1800" b="1" dirty="0" err="1" smtClean="0"/>
              <a:t>var</a:t>
            </a:r>
            <a:r>
              <a:rPr lang="en-US" sz="1800" b="1" dirty="0" smtClean="0"/>
              <a:t> </a:t>
            </a:r>
            <a:r>
              <a:rPr lang="en-US" sz="1800" b="1" dirty="0" err="1" smtClean="0"/>
              <a:t>obj</a:t>
            </a:r>
            <a:r>
              <a:rPr lang="en-US" sz="1800" b="1" dirty="0" smtClean="0"/>
              <a:t> = </a:t>
            </a:r>
            <a:r>
              <a:rPr lang="en-US" sz="1800" b="1" dirty="0" err="1" smtClean="0"/>
              <a:t>eval</a:t>
            </a:r>
            <a:r>
              <a:rPr lang="en-US" sz="1800" b="1" dirty="0" smtClean="0"/>
              <a:t> ("(" + txt + ")"); </a:t>
            </a:r>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239000" cy="441960"/>
          </a:xfrm>
        </p:spPr>
        <p:txBody>
          <a:bodyPr>
            <a:noAutofit/>
          </a:bodyPr>
          <a:lstStyle/>
          <a:p>
            <a:r>
              <a:rPr lang="en-US" sz="2400" dirty="0" smtClean="0"/>
              <a:t>Example: convert </a:t>
            </a:r>
            <a:r>
              <a:rPr lang="en-US" sz="2400" dirty="0" err="1" smtClean="0"/>
              <a:t>json</a:t>
            </a:r>
            <a:r>
              <a:rPr lang="en-US" sz="2400" dirty="0" smtClean="0"/>
              <a:t> data to </a:t>
            </a:r>
            <a:r>
              <a:rPr lang="en-US" sz="2400" dirty="0" err="1" smtClean="0"/>
              <a:t>javascript</a:t>
            </a:r>
            <a:r>
              <a:rPr lang="en-US" sz="2400" dirty="0" smtClean="0"/>
              <a:t> object</a:t>
            </a:r>
            <a:endParaRPr lang="en-US" sz="2400" dirty="0"/>
          </a:p>
        </p:txBody>
      </p:sp>
      <p:sp>
        <p:nvSpPr>
          <p:cNvPr id="3" name="Content Placeholder 2"/>
          <p:cNvSpPr>
            <a:spLocks noGrp="1"/>
          </p:cNvSpPr>
          <p:nvPr>
            <p:ph idx="1"/>
          </p:nvPr>
        </p:nvSpPr>
        <p:spPr>
          <a:xfrm>
            <a:off x="457200" y="1066800"/>
            <a:ext cx="7239000" cy="5638800"/>
          </a:xfrm>
        </p:spPr>
        <p:txBody>
          <a:bodyPr>
            <a:normAutofit fontScale="40000" lnSpcReduction="20000"/>
          </a:bodyPr>
          <a:lstStyle/>
          <a:p>
            <a:pPr>
              <a:buNone/>
            </a:pPr>
            <a:r>
              <a:rPr lang="en-US" sz="3400" b="1" dirty="0" smtClean="0"/>
              <a:t>&lt;html&gt;</a:t>
            </a:r>
          </a:p>
          <a:p>
            <a:pPr>
              <a:buNone/>
            </a:pPr>
            <a:r>
              <a:rPr lang="en-US" sz="3400" b="1" dirty="0" smtClean="0"/>
              <a:t>&lt;body&gt;</a:t>
            </a:r>
          </a:p>
          <a:p>
            <a:pPr>
              <a:buNone/>
            </a:pPr>
            <a:r>
              <a:rPr lang="en-US" sz="3400" b="1" dirty="0" smtClean="0"/>
              <a:t>&lt;h2&gt;Create Object from JSON String&lt;/h2&gt;</a:t>
            </a:r>
          </a:p>
          <a:p>
            <a:pPr>
              <a:buNone/>
            </a:pPr>
            <a:r>
              <a:rPr lang="en-US" sz="3400" b="1" dirty="0" smtClean="0"/>
              <a:t>&lt;p&gt;</a:t>
            </a:r>
          </a:p>
          <a:p>
            <a:pPr>
              <a:buNone/>
            </a:pPr>
            <a:r>
              <a:rPr lang="en-US" sz="3400" b="1" dirty="0" smtClean="0"/>
              <a:t>First Name: &lt;span id="</a:t>
            </a:r>
            <a:r>
              <a:rPr lang="en-US" sz="3400" b="1" dirty="0" err="1" smtClean="0"/>
              <a:t>fname</a:t>
            </a:r>
            <a:r>
              <a:rPr lang="en-US" sz="3400" b="1" dirty="0" smtClean="0"/>
              <a:t>"&gt;&lt;/span&gt;&lt;</a:t>
            </a:r>
            <a:r>
              <a:rPr lang="en-US" sz="3400" b="1" dirty="0" err="1" smtClean="0"/>
              <a:t>br</a:t>
            </a:r>
            <a:r>
              <a:rPr lang="en-US" sz="3400" b="1" dirty="0" smtClean="0"/>
              <a:t> /&gt; </a:t>
            </a:r>
          </a:p>
          <a:p>
            <a:pPr>
              <a:buNone/>
            </a:pPr>
            <a:r>
              <a:rPr lang="en-US" sz="3400" b="1" dirty="0" smtClean="0"/>
              <a:t>Last Name: &lt;span id="</a:t>
            </a:r>
            <a:r>
              <a:rPr lang="en-US" sz="3400" b="1" dirty="0" err="1" smtClean="0"/>
              <a:t>lname</a:t>
            </a:r>
            <a:r>
              <a:rPr lang="en-US" sz="3400" b="1" dirty="0" smtClean="0"/>
              <a:t>"&gt;&lt;/span&gt;&lt;</a:t>
            </a:r>
            <a:r>
              <a:rPr lang="en-US" sz="3400" b="1" dirty="0" err="1" smtClean="0"/>
              <a:t>br</a:t>
            </a:r>
            <a:r>
              <a:rPr lang="en-US" sz="3400" b="1" dirty="0" smtClean="0"/>
              <a:t> /&gt; </a:t>
            </a:r>
          </a:p>
          <a:p>
            <a:pPr>
              <a:buNone/>
            </a:pPr>
            <a:r>
              <a:rPr lang="en-US" sz="3400" b="1" dirty="0" smtClean="0"/>
              <a:t>&lt;/p&gt; </a:t>
            </a:r>
          </a:p>
          <a:p>
            <a:pPr>
              <a:buNone/>
            </a:pPr>
            <a:r>
              <a:rPr lang="en-US" sz="3400" b="1" dirty="0" smtClean="0"/>
              <a:t>&lt;script type="text/</a:t>
            </a:r>
            <a:r>
              <a:rPr lang="en-US" sz="3400" b="1" dirty="0" err="1" smtClean="0"/>
              <a:t>javascript</a:t>
            </a:r>
            <a:r>
              <a:rPr lang="en-US" sz="3400" b="1" dirty="0" smtClean="0"/>
              <a:t>"&gt;</a:t>
            </a:r>
          </a:p>
          <a:p>
            <a:pPr>
              <a:buNone/>
            </a:pPr>
            <a:endParaRPr lang="en-US" sz="3400" b="1" dirty="0" smtClean="0"/>
          </a:p>
          <a:p>
            <a:pPr>
              <a:buNone/>
            </a:pPr>
            <a:r>
              <a:rPr lang="en-US" sz="3400" b="1" dirty="0" err="1" smtClean="0">
                <a:solidFill>
                  <a:srgbClr val="C00000"/>
                </a:solidFill>
              </a:rPr>
              <a:t>var</a:t>
            </a:r>
            <a:r>
              <a:rPr lang="en-US" sz="3400" b="1" dirty="0" smtClean="0">
                <a:solidFill>
                  <a:srgbClr val="C00000"/>
                </a:solidFill>
              </a:rPr>
              <a:t> txt =   '{"employees":[' +</a:t>
            </a:r>
          </a:p>
          <a:p>
            <a:pPr>
              <a:buNone/>
            </a:pPr>
            <a:r>
              <a:rPr lang="en-US" sz="3400" b="1" dirty="0" smtClean="0">
                <a:solidFill>
                  <a:srgbClr val="C00000"/>
                </a:solidFill>
              </a:rPr>
              <a:t>           '{"</a:t>
            </a:r>
            <a:r>
              <a:rPr lang="en-US" sz="3400" b="1" dirty="0" err="1" smtClean="0">
                <a:solidFill>
                  <a:srgbClr val="C00000"/>
                </a:solidFill>
              </a:rPr>
              <a:t>firstName</a:t>
            </a:r>
            <a:r>
              <a:rPr lang="en-US" sz="3400" b="1" dirty="0" smtClean="0">
                <a:solidFill>
                  <a:srgbClr val="C00000"/>
                </a:solidFill>
              </a:rPr>
              <a:t>":"</a:t>
            </a:r>
            <a:r>
              <a:rPr lang="en-US" sz="3400" b="1" dirty="0" err="1" smtClean="0">
                <a:solidFill>
                  <a:srgbClr val="C00000"/>
                </a:solidFill>
              </a:rPr>
              <a:t>John","lastName</a:t>
            </a:r>
            <a:r>
              <a:rPr lang="en-US" sz="3400" b="1" dirty="0" smtClean="0">
                <a:solidFill>
                  <a:srgbClr val="C00000"/>
                </a:solidFill>
              </a:rPr>
              <a:t>":"Doe" },' +</a:t>
            </a:r>
          </a:p>
          <a:p>
            <a:pPr>
              <a:buNone/>
            </a:pPr>
            <a:r>
              <a:rPr lang="en-US" sz="3400" b="1" dirty="0" smtClean="0">
                <a:solidFill>
                  <a:srgbClr val="C00000"/>
                </a:solidFill>
              </a:rPr>
              <a:t>           '{"</a:t>
            </a:r>
            <a:r>
              <a:rPr lang="en-US" sz="3400" b="1" dirty="0" err="1" smtClean="0">
                <a:solidFill>
                  <a:srgbClr val="C00000"/>
                </a:solidFill>
              </a:rPr>
              <a:t>firstName</a:t>
            </a:r>
            <a:r>
              <a:rPr lang="en-US" sz="3400" b="1" dirty="0" smtClean="0">
                <a:solidFill>
                  <a:srgbClr val="C00000"/>
                </a:solidFill>
              </a:rPr>
              <a:t>":"</a:t>
            </a:r>
            <a:r>
              <a:rPr lang="en-US" sz="3400" b="1" dirty="0" err="1" smtClean="0">
                <a:solidFill>
                  <a:srgbClr val="C00000"/>
                </a:solidFill>
              </a:rPr>
              <a:t>Anna","lastName</a:t>
            </a:r>
            <a:r>
              <a:rPr lang="en-US" sz="3400" b="1" dirty="0" smtClean="0">
                <a:solidFill>
                  <a:srgbClr val="C00000"/>
                </a:solidFill>
              </a:rPr>
              <a:t>":"Smith" },' +</a:t>
            </a:r>
          </a:p>
          <a:p>
            <a:pPr>
              <a:buNone/>
            </a:pPr>
            <a:r>
              <a:rPr lang="en-US" sz="3400" b="1" dirty="0" smtClean="0">
                <a:solidFill>
                  <a:srgbClr val="C00000"/>
                </a:solidFill>
              </a:rPr>
              <a:t>           '{"</a:t>
            </a:r>
            <a:r>
              <a:rPr lang="en-US" sz="3400" b="1" dirty="0" err="1" smtClean="0">
                <a:solidFill>
                  <a:srgbClr val="C00000"/>
                </a:solidFill>
              </a:rPr>
              <a:t>firstName</a:t>
            </a:r>
            <a:r>
              <a:rPr lang="en-US" sz="3400" b="1" dirty="0" smtClean="0">
                <a:solidFill>
                  <a:srgbClr val="C00000"/>
                </a:solidFill>
              </a:rPr>
              <a:t>":"</a:t>
            </a:r>
            <a:r>
              <a:rPr lang="en-US" sz="3400" b="1" dirty="0" err="1" smtClean="0">
                <a:solidFill>
                  <a:srgbClr val="C00000"/>
                </a:solidFill>
              </a:rPr>
              <a:t>Peter","lastName</a:t>
            </a:r>
            <a:r>
              <a:rPr lang="en-US" sz="3400" b="1" dirty="0" smtClean="0">
                <a:solidFill>
                  <a:srgbClr val="C00000"/>
                </a:solidFill>
              </a:rPr>
              <a:t>":"Jones" }]}';</a:t>
            </a:r>
          </a:p>
          <a:p>
            <a:pPr>
              <a:buNone/>
            </a:pPr>
            <a:endParaRPr lang="en-US" sz="3400" b="1" dirty="0" smtClean="0"/>
          </a:p>
          <a:p>
            <a:pPr>
              <a:buNone/>
            </a:pPr>
            <a:r>
              <a:rPr lang="en-US" sz="3400" b="1" dirty="0" err="1" smtClean="0"/>
              <a:t>var</a:t>
            </a:r>
            <a:r>
              <a:rPr lang="en-US" sz="3400" b="1" dirty="0" smtClean="0"/>
              <a:t> </a:t>
            </a:r>
            <a:r>
              <a:rPr lang="en-US" sz="3400" b="1" dirty="0" err="1" smtClean="0"/>
              <a:t>obj</a:t>
            </a:r>
            <a:r>
              <a:rPr lang="en-US" sz="3400" b="1" dirty="0" smtClean="0"/>
              <a:t> = </a:t>
            </a:r>
            <a:r>
              <a:rPr lang="en-US" sz="3400" b="1" dirty="0" err="1" smtClean="0"/>
              <a:t>eval</a:t>
            </a:r>
            <a:r>
              <a:rPr lang="en-US" sz="3400" b="1" dirty="0" smtClean="0"/>
              <a:t> ("(" + txt + ")");</a:t>
            </a:r>
          </a:p>
          <a:p>
            <a:pPr>
              <a:buNone/>
            </a:pPr>
            <a:endParaRPr lang="en-US" sz="3400" b="1" dirty="0" smtClean="0"/>
          </a:p>
          <a:p>
            <a:pPr>
              <a:buNone/>
            </a:pPr>
            <a:r>
              <a:rPr lang="en-US" sz="3400" b="1" dirty="0" err="1" smtClean="0"/>
              <a:t>document.getElementById</a:t>
            </a:r>
            <a:r>
              <a:rPr lang="en-US" sz="3400" b="1" dirty="0" smtClean="0"/>
              <a:t>("</a:t>
            </a:r>
            <a:r>
              <a:rPr lang="en-US" sz="3400" b="1" dirty="0" err="1" smtClean="0"/>
              <a:t>fname</a:t>
            </a:r>
            <a:r>
              <a:rPr lang="en-US" sz="3400" b="1" dirty="0" smtClean="0"/>
              <a:t>").</a:t>
            </a:r>
            <a:r>
              <a:rPr lang="en-US" sz="3400" b="1" dirty="0" err="1" smtClean="0"/>
              <a:t>innerHTML</a:t>
            </a:r>
            <a:r>
              <a:rPr lang="en-US" sz="3400" b="1" dirty="0" smtClean="0"/>
              <a:t>=</a:t>
            </a:r>
            <a:r>
              <a:rPr lang="en-US" sz="3400" b="1" dirty="0" err="1" smtClean="0"/>
              <a:t>obj.employees</a:t>
            </a:r>
            <a:r>
              <a:rPr lang="en-US" sz="3400" b="1" dirty="0" smtClean="0"/>
              <a:t>[1].</a:t>
            </a:r>
            <a:r>
              <a:rPr lang="en-US" sz="3400" b="1" dirty="0" err="1" smtClean="0"/>
              <a:t>firstName</a:t>
            </a:r>
            <a:r>
              <a:rPr lang="en-US" sz="3400" b="1" dirty="0" smtClean="0"/>
              <a:t> </a:t>
            </a:r>
          </a:p>
          <a:p>
            <a:pPr>
              <a:buNone/>
            </a:pPr>
            <a:r>
              <a:rPr lang="en-US" sz="3400" b="1" dirty="0" err="1" smtClean="0"/>
              <a:t>document.getElementById</a:t>
            </a:r>
            <a:r>
              <a:rPr lang="en-US" sz="3400" b="1" dirty="0" smtClean="0"/>
              <a:t>("</a:t>
            </a:r>
            <a:r>
              <a:rPr lang="en-US" sz="3400" b="1" dirty="0" err="1" smtClean="0"/>
              <a:t>lname</a:t>
            </a:r>
            <a:r>
              <a:rPr lang="en-US" sz="3400" b="1" dirty="0" smtClean="0"/>
              <a:t>").</a:t>
            </a:r>
            <a:r>
              <a:rPr lang="en-US" sz="3400" b="1" dirty="0" err="1" smtClean="0"/>
              <a:t>innerHTML</a:t>
            </a:r>
            <a:r>
              <a:rPr lang="en-US" sz="3400" b="1" dirty="0" smtClean="0"/>
              <a:t>=</a:t>
            </a:r>
            <a:r>
              <a:rPr lang="en-US" sz="3400" b="1" dirty="0" err="1" smtClean="0"/>
              <a:t>obj.employees</a:t>
            </a:r>
            <a:r>
              <a:rPr lang="en-US" sz="3400" b="1" dirty="0" smtClean="0"/>
              <a:t>[1].</a:t>
            </a:r>
            <a:r>
              <a:rPr lang="en-US" sz="3400" b="1" dirty="0" err="1" smtClean="0"/>
              <a:t>lastName</a:t>
            </a:r>
            <a:r>
              <a:rPr lang="en-US" sz="3400" b="1" dirty="0" smtClean="0"/>
              <a:t> </a:t>
            </a:r>
          </a:p>
          <a:p>
            <a:pPr>
              <a:buNone/>
            </a:pPr>
            <a:r>
              <a:rPr lang="en-US" sz="3400" b="1" dirty="0" smtClean="0"/>
              <a:t>&lt;/script&gt;</a:t>
            </a:r>
          </a:p>
          <a:p>
            <a:pPr>
              <a:buNone/>
            </a:pPr>
            <a:r>
              <a:rPr lang="en-US" sz="3400" b="1" dirty="0" smtClean="0"/>
              <a:t>&lt;/body&gt;</a:t>
            </a:r>
          </a:p>
          <a:p>
            <a:pPr>
              <a:buNone/>
            </a:pPr>
            <a:r>
              <a:rPr lang="en-US" sz="3400" b="1" dirty="0" smtClean="0"/>
              <a:t>&lt;/html&gt;</a:t>
            </a:r>
            <a:endParaRPr lang="en-US" b="1" dirty="0" smtClean="0"/>
          </a:p>
          <a:p>
            <a:pPr>
              <a:buNone/>
            </a:pPr>
            <a:endParaRPr lang="en-US" dirty="0" smtClean="0"/>
          </a:p>
          <a:p>
            <a:pPr>
              <a:buNone/>
            </a:pPr>
            <a:endParaRPr lang="en-US" dirty="0"/>
          </a:p>
        </p:txBody>
      </p:sp>
      <p:cxnSp>
        <p:nvCxnSpPr>
          <p:cNvPr id="5" name="Straight Arrow Connector 4"/>
          <p:cNvCxnSpPr/>
          <p:nvPr/>
        </p:nvCxnSpPr>
        <p:spPr>
          <a:xfrm flipV="1">
            <a:off x="4419600" y="3352800"/>
            <a:ext cx="1219200" cy="2286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6" name="Oval 5"/>
          <p:cNvSpPr/>
          <p:nvPr/>
        </p:nvSpPr>
        <p:spPr>
          <a:xfrm>
            <a:off x="5638800" y="3048000"/>
            <a:ext cx="1981200" cy="838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p:cNvSpPr txBox="1"/>
          <p:nvPr/>
        </p:nvSpPr>
        <p:spPr>
          <a:xfrm>
            <a:off x="5943600" y="3352800"/>
            <a:ext cx="1600200" cy="523220"/>
          </a:xfrm>
          <a:prstGeom prst="rect">
            <a:avLst/>
          </a:prstGeom>
          <a:noFill/>
        </p:spPr>
        <p:txBody>
          <a:bodyPr wrap="square" rtlCol="0">
            <a:spAutoFit/>
          </a:bodyPr>
          <a:lstStyle/>
          <a:p>
            <a:r>
              <a:rPr lang="en-US" sz="1400" dirty="0" smtClean="0"/>
              <a:t>JSON data in the form of String</a:t>
            </a:r>
            <a:endParaRPr lang="en-US" sz="1400" dirty="0"/>
          </a:p>
        </p:txBody>
      </p:sp>
      <p:cxnSp>
        <p:nvCxnSpPr>
          <p:cNvPr id="9" name="Straight Arrow Connector 8"/>
          <p:cNvCxnSpPr/>
          <p:nvPr/>
        </p:nvCxnSpPr>
        <p:spPr>
          <a:xfrm flipV="1">
            <a:off x="3124200" y="4572000"/>
            <a:ext cx="1600200" cy="762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10" name="Oval 9"/>
          <p:cNvSpPr/>
          <p:nvPr/>
        </p:nvSpPr>
        <p:spPr>
          <a:xfrm>
            <a:off x="4724400" y="4191000"/>
            <a:ext cx="2286000" cy="838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p:cNvSpPr txBox="1"/>
          <p:nvPr/>
        </p:nvSpPr>
        <p:spPr>
          <a:xfrm>
            <a:off x="4953000" y="4419600"/>
            <a:ext cx="1905000" cy="646331"/>
          </a:xfrm>
          <a:prstGeom prst="rect">
            <a:avLst/>
          </a:prstGeom>
          <a:noFill/>
        </p:spPr>
        <p:txBody>
          <a:bodyPr wrap="square" rtlCol="0">
            <a:spAutoFit/>
          </a:bodyPr>
          <a:lstStyle/>
          <a:p>
            <a:r>
              <a:rPr lang="en-US" sz="1200" b="1" dirty="0" err="1" smtClean="0"/>
              <a:t>Eval</a:t>
            </a:r>
            <a:r>
              <a:rPr lang="en-US" sz="1200" b="1" dirty="0" smtClean="0"/>
              <a:t>() function to parse the JSON test</a:t>
            </a:r>
          </a:p>
          <a:p>
            <a:endParaRPr lang="en-US" sz="1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normAutofit fontScale="90000"/>
          </a:bodyPr>
          <a:lstStyle/>
          <a:p>
            <a:r>
              <a:rPr lang="en-US" dirty="0" err="1" smtClean="0"/>
              <a:t>Json</a:t>
            </a:r>
            <a:r>
              <a:rPr lang="en-US" dirty="0" smtClean="0"/>
              <a:t>- </a:t>
            </a:r>
            <a:r>
              <a:rPr lang="en-US" dirty="0" err="1" smtClean="0"/>
              <a:t>servlet</a:t>
            </a:r>
            <a:r>
              <a:rPr lang="en-US" dirty="0" smtClean="0"/>
              <a:t>/</a:t>
            </a:r>
            <a:r>
              <a:rPr lang="en-US" dirty="0" err="1" smtClean="0"/>
              <a:t>jsp</a:t>
            </a:r>
            <a:r>
              <a:rPr lang="en-US" dirty="0" smtClean="0"/>
              <a:t> interaction</a:t>
            </a:r>
            <a:endParaRPr lang="en-US" dirty="0"/>
          </a:p>
        </p:txBody>
      </p:sp>
      <p:sp>
        <p:nvSpPr>
          <p:cNvPr id="4" name="Rounded Rectangle 3"/>
          <p:cNvSpPr/>
          <p:nvPr/>
        </p:nvSpPr>
        <p:spPr>
          <a:xfrm>
            <a:off x="5791200" y="2209800"/>
            <a:ext cx="1905000" cy="2743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6096000" y="2514600"/>
            <a:ext cx="12192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ed Rectangle 5"/>
          <p:cNvSpPr/>
          <p:nvPr/>
        </p:nvSpPr>
        <p:spPr>
          <a:xfrm>
            <a:off x="6096000" y="3733800"/>
            <a:ext cx="1219200" cy="838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ed Rectangle 6"/>
          <p:cNvSpPr/>
          <p:nvPr/>
        </p:nvSpPr>
        <p:spPr>
          <a:xfrm>
            <a:off x="609600" y="2133600"/>
            <a:ext cx="1905000" cy="2743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p:cNvSpPr txBox="1"/>
          <p:nvPr/>
        </p:nvSpPr>
        <p:spPr>
          <a:xfrm>
            <a:off x="6248400" y="1828800"/>
            <a:ext cx="990600" cy="369332"/>
          </a:xfrm>
          <a:prstGeom prst="rect">
            <a:avLst/>
          </a:prstGeom>
          <a:noFill/>
        </p:spPr>
        <p:txBody>
          <a:bodyPr wrap="square" rtlCol="0">
            <a:spAutoFit/>
          </a:bodyPr>
          <a:lstStyle/>
          <a:p>
            <a:r>
              <a:rPr lang="en-US" dirty="0" smtClean="0"/>
              <a:t>SERVER</a:t>
            </a:r>
            <a:endParaRPr lang="en-US" dirty="0"/>
          </a:p>
        </p:txBody>
      </p:sp>
      <p:sp>
        <p:nvSpPr>
          <p:cNvPr id="9" name="TextBox 8"/>
          <p:cNvSpPr txBox="1"/>
          <p:nvPr/>
        </p:nvSpPr>
        <p:spPr>
          <a:xfrm>
            <a:off x="6324600" y="2743200"/>
            <a:ext cx="685800" cy="369332"/>
          </a:xfrm>
          <a:prstGeom prst="rect">
            <a:avLst/>
          </a:prstGeom>
          <a:noFill/>
        </p:spPr>
        <p:txBody>
          <a:bodyPr wrap="square" rtlCol="0">
            <a:spAutoFit/>
          </a:bodyPr>
          <a:lstStyle/>
          <a:p>
            <a:r>
              <a:rPr lang="en-US" dirty="0" smtClean="0"/>
              <a:t>JSP</a:t>
            </a:r>
            <a:endParaRPr lang="en-US" dirty="0"/>
          </a:p>
        </p:txBody>
      </p:sp>
      <p:sp>
        <p:nvSpPr>
          <p:cNvPr id="10" name="TextBox 9"/>
          <p:cNvSpPr txBox="1"/>
          <p:nvPr/>
        </p:nvSpPr>
        <p:spPr>
          <a:xfrm>
            <a:off x="6172200" y="3962400"/>
            <a:ext cx="1066800" cy="369332"/>
          </a:xfrm>
          <a:prstGeom prst="rect">
            <a:avLst/>
          </a:prstGeom>
          <a:noFill/>
        </p:spPr>
        <p:txBody>
          <a:bodyPr wrap="square" rtlCol="0">
            <a:spAutoFit/>
          </a:bodyPr>
          <a:lstStyle/>
          <a:p>
            <a:r>
              <a:rPr lang="en-US" dirty="0" smtClean="0"/>
              <a:t>SERVLET</a:t>
            </a:r>
            <a:endParaRPr lang="en-US" dirty="0"/>
          </a:p>
        </p:txBody>
      </p:sp>
      <p:sp>
        <p:nvSpPr>
          <p:cNvPr id="11" name="TextBox 10"/>
          <p:cNvSpPr txBox="1"/>
          <p:nvPr/>
        </p:nvSpPr>
        <p:spPr>
          <a:xfrm>
            <a:off x="1143000" y="1752600"/>
            <a:ext cx="1066800" cy="369332"/>
          </a:xfrm>
          <a:prstGeom prst="rect">
            <a:avLst/>
          </a:prstGeom>
          <a:noFill/>
        </p:spPr>
        <p:txBody>
          <a:bodyPr wrap="square" rtlCol="0">
            <a:spAutoFit/>
          </a:bodyPr>
          <a:lstStyle/>
          <a:p>
            <a:r>
              <a:rPr lang="en-US" dirty="0" smtClean="0"/>
              <a:t>CLIENT</a:t>
            </a:r>
            <a:endParaRPr lang="en-US" dirty="0"/>
          </a:p>
        </p:txBody>
      </p:sp>
      <p:sp>
        <p:nvSpPr>
          <p:cNvPr id="13" name="Rounded Rectangle 12"/>
          <p:cNvSpPr/>
          <p:nvPr/>
        </p:nvSpPr>
        <p:spPr>
          <a:xfrm>
            <a:off x="990600" y="2590800"/>
            <a:ext cx="1143000" cy="1447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TextBox 13"/>
          <p:cNvSpPr txBox="1"/>
          <p:nvPr/>
        </p:nvSpPr>
        <p:spPr>
          <a:xfrm>
            <a:off x="1143000" y="2895600"/>
            <a:ext cx="838200" cy="646331"/>
          </a:xfrm>
          <a:prstGeom prst="rect">
            <a:avLst/>
          </a:prstGeom>
          <a:noFill/>
        </p:spPr>
        <p:txBody>
          <a:bodyPr wrap="square" rtlCol="0">
            <a:spAutoFit/>
          </a:bodyPr>
          <a:lstStyle/>
          <a:p>
            <a:r>
              <a:rPr lang="en-US" dirty="0" smtClean="0"/>
              <a:t>Ajax/JSON</a:t>
            </a:r>
            <a:endParaRPr lang="en-US" dirty="0"/>
          </a:p>
        </p:txBody>
      </p:sp>
      <p:cxnSp>
        <p:nvCxnSpPr>
          <p:cNvPr id="20" name="Straight Arrow Connector 19"/>
          <p:cNvCxnSpPr/>
          <p:nvPr/>
        </p:nvCxnSpPr>
        <p:spPr>
          <a:xfrm>
            <a:off x="2209800" y="2819400"/>
            <a:ext cx="3886200" cy="0"/>
          </a:xfrm>
          <a:prstGeom prst="straightConnector1">
            <a:avLst/>
          </a:prstGeom>
          <a:ln>
            <a:headEnd type="arrow"/>
            <a:tailEnd type="arrow"/>
          </a:ln>
        </p:spPr>
        <p:style>
          <a:lnRef idx="2">
            <a:schemeClr val="accent3"/>
          </a:lnRef>
          <a:fillRef idx="0">
            <a:schemeClr val="accent3"/>
          </a:fillRef>
          <a:effectRef idx="1">
            <a:schemeClr val="accent3"/>
          </a:effectRef>
          <a:fontRef idx="minor">
            <a:schemeClr val="tx1"/>
          </a:fontRef>
        </p:style>
      </p:cxnSp>
      <p:cxnSp>
        <p:nvCxnSpPr>
          <p:cNvPr id="22" name="Straight Arrow Connector 21"/>
          <p:cNvCxnSpPr>
            <a:endCxn id="6" idx="1"/>
          </p:cNvCxnSpPr>
          <p:nvPr/>
        </p:nvCxnSpPr>
        <p:spPr>
          <a:xfrm>
            <a:off x="2209800" y="3048000"/>
            <a:ext cx="3886200" cy="1104900"/>
          </a:xfrm>
          <a:prstGeom prst="straightConnector1">
            <a:avLst/>
          </a:prstGeom>
          <a:ln>
            <a:headEnd type="arrow"/>
            <a:tailEnd type="arrow"/>
          </a:ln>
        </p:spPr>
        <p:style>
          <a:lnRef idx="2">
            <a:schemeClr val="accent3"/>
          </a:lnRef>
          <a:fillRef idx="0">
            <a:schemeClr val="accent3"/>
          </a:fillRef>
          <a:effectRef idx="1">
            <a:schemeClr val="accent3"/>
          </a:effectRef>
          <a:fontRef idx="minor">
            <a:schemeClr val="tx1"/>
          </a:fontRef>
        </p:style>
      </p:cxnSp>
      <p:sp>
        <p:nvSpPr>
          <p:cNvPr id="23" name="TextBox 22"/>
          <p:cNvSpPr txBox="1"/>
          <p:nvPr/>
        </p:nvSpPr>
        <p:spPr>
          <a:xfrm>
            <a:off x="3048000" y="2362200"/>
            <a:ext cx="2514600" cy="369332"/>
          </a:xfrm>
          <a:prstGeom prst="rect">
            <a:avLst/>
          </a:prstGeom>
          <a:noFill/>
        </p:spPr>
        <p:txBody>
          <a:bodyPr wrap="square" rtlCol="0">
            <a:spAutoFit/>
          </a:bodyPr>
          <a:lstStyle/>
          <a:p>
            <a:r>
              <a:rPr lang="en-US" dirty="0" smtClean="0"/>
              <a:t>Request / Response</a:t>
            </a:r>
            <a:endParaRPr lang="en-US" dirty="0"/>
          </a:p>
        </p:txBody>
      </p:sp>
      <p:sp>
        <p:nvSpPr>
          <p:cNvPr id="24" name="TextBox 23"/>
          <p:cNvSpPr txBox="1"/>
          <p:nvPr/>
        </p:nvSpPr>
        <p:spPr>
          <a:xfrm>
            <a:off x="3048000" y="3505200"/>
            <a:ext cx="2286000" cy="369332"/>
          </a:xfrm>
          <a:prstGeom prst="rect">
            <a:avLst/>
          </a:prstGeom>
          <a:noFill/>
        </p:spPr>
        <p:txBody>
          <a:bodyPr wrap="square" rtlCol="0">
            <a:spAutoFit/>
          </a:bodyPr>
          <a:lstStyle/>
          <a:p>
            <a:r>
              <a:rPr lang="en-US" dirty="0" smtClean="0"/>
              <a:t>Request/ Response</a:t>
            </a:r>
            <a:endParaRPr lang="en-US" dirty="0"/>
          </a:p>
        </p:txBody>
      </p:sp>
      <p:sp>
        <p:nvSpPr>
          <p:cNvPr id="25" name="TextBox 24"/>
          <p:cNvSpPr txBox="1"/>
          <p:nvPr/>
        </p:nvSpPr>
        <p:spPr>
          <a:xfrm>
            <a:off x="914400" y="2286000"/>
            <a:ext cx="1371600" cy="338554"/>
          </a:xfrm>
          <a:prstGeom prst="rect">
            <a:avLst/>
          </a:prstGeom>
          <a:noFill/>
        </p:spPr>
        <p:txBody>
          <a:bodyPr wrap="square" rtlCol="0">
            <a:spAutoFit/>
          </a:bodyPr>
          <a:lstStyle/>
          <a:p>
            <a:r>
              <a:rPr lang="en-US" sz="1600" dirty="0" smtClean="0"/>
              <a:t>JavaScript</a:t>
            </a:r>
            <a:endParaRPr lang="en-US" sz="1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18160"/>
          </a:xfrm>
        </p:spPr>
        <p:txBody>
          <a:bodyPr>
            <a:normAutofit fontScale="90000"/>
          </a:bodyPr>
          <a:lstStyle/>
          <a:p>
            <a:r>
              <a:rPr lang="en-US" dirty="0" smtClean="0"/>
              <a:t>JSON and JAVA</a:t>
            </a:r>
            <a:endParaRPr lang="en-US" dirty="0"/>
          </a:p>
        </p:txBody>
      </p:sp>
      <p:sp>
        <p:nvSpPr>
          <p:cNvPr id="3" name="Content Placeholder 2"/>
          <p:cNvSpPr>
            <a:spLocks noGrp="1"/>
          </p:cNvSpPr>
          <p:nvPr>
            <p:ph idx="1"/>
          </p:nvPr>
        </p:nvSpPr>
        <p:spPr>
          <a:xfrm>
            <a:off x="457200" y="990600"/>
            <a:ext cx="7239000" cy="5465136"/>
          </a:xfrm>
        </p:spPr>
        <p:txBody>
          <a:bodyPr/>
          <a:lstStyle/>
          <a:p>
            <a:pPr>
              <a:buNone/>
            </a:pPr>
            <a:r>
              <a:rPr lang="en-US" sz="2000" dirty="0" smtClean="0"/>
              <a:t>Now in this part you will study how to use JSON in Java</a:t>
            </a:r>
            <a:r>
              <a:rPr lang="en-US" dirty="0" smtClean="0"/>
              <a:t>.</a:t>
            </a:r>
          </a:p>
          <a:p>
            <a:r>
              <a:rPr lang="en-US" sz="2000" dirty="0" smtClean="0"/>
              <a:t>To have functionality of JSON in java you must have JSON-lib. JSON-lib also requires following "JAR" files</a:t>
            </a:r>
            <a:r>
              <a:rPr lang="en-US" dirty="0" smtClean="0"/>
              <a:t>:</a:t>
            </a:r>
          </a:p>
          <a:p>
            <a:pPr>
              <a:buNone/>
            </a:pPr>
            <a:endParaRPr lang="en-US" dirty="0" smtClean="0"/>
          </a:p>
          <a:p>
            <a:r>
              <a:rPr lang="en-US" b="1" dirty="0" smtClean="0"/>
              <a:t>commons-lang.jar </a:t>
            </a:r>
            <a:r>
              <a:rPr lang="en-US" dirty="0" smtClean="0"/>
              <a:t> </a:t>
            </a:r>
          </a:p>
          <a:p>
            <a:r>
              <a:rPr lang="en-US" b="1" dirty="0" smtClean="0"/>
              <a:t>commons-beanutils.jar</a:t>
            </a:r>
            <a:r>
              <a:rPr lang="en-US" dirty="0" smtClean="0"/>
              <a:t> </a:t>
            </a:r>
          </a:p>
          <a:p>
            <a:r>
              <a:rPr lang="en-US" b="1" dirty="0" smtClean="0"/>
              <a:t>commons-collections.jar</a:t>
            </a:r>
            <a:r>
              <a:rPr lang="en-US" dirty="0" smtClean="0"/>
              <a:t> </a:t>
            </a:r>
          </a:p>
          <a:p>
            <a:r>
              <a:rPr lang="en-US" b="1" dirty="0" smtClean="0"/>
              <a:t>commons-logging.jar</a:t>
            </a:r>
            <a:r>
              <a:rPr lang="en-US" dirty="0" smtClean="0"/>
              <a:t> </a:t>
            </a:r>
          </a:p>
          <a:p>
            <a:r>
              <a:rPr lang="en-US" b="1" dirty="0" smtClean="0"/>
              <a:t>ezmorph.jar</a:t>
            </a:r>
            <a:r>
              <a:rPr lang="en-US" dirty="0" smtClean="0"/>
              <a:t> </a:t>
            </a:r>
          </a:p>
          <a:p>
            <a:r>
              <a:rPr lang="en-US" b="1" dirty="0" smtClean="0"/>
              <a:t>json-lib-2.2.2-jdk15.jar</a:t>
            </a:r>
            <a:r>
              <a:rPr lang="en-US" dirty="0" smtClean="0"/>
              <a:t> </a:t>
            </a:r>
          </a:p>
          <a:p>
            <a:pPr>
              <a:buNone/>
            </a:pPr>
            <a:r>
              <a:rPr lang="en-US" dirty="0" smtClean="0"/>
              <a:t>* </a:t>
            </a:r>
            <a:r>
              <a:rPr lang="en-US" sz="1800" dirty="0" smtClean="0">
                <a:solidFill>
                  <a:srgbClr val="FF0000"/>
                </a:solidFill>
              </a:rPr>
              <a:t>Copy these Jar files into the .lib folder of your web application.</a:t>
            </a:r>
            <a:endParaRPr lang="en-US" dirty="0" smtClean="0">
              <a:solidFill>
                <a:srgbClr val="FF0000"/>
              </a:solidFill>
            </a:endParaRPr>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051560"/>
          </a:xfrm>
        </p:spPr>
        <p:txBody>
          <a:bodyPr>
            <a:normAutofit fontScale="90000"/>
          </a:bodyPr>
          <a:lstStyle/>
          <a:p>
            <a:r>
              <a:rPr lang="en-US" dirty="0" smtClean="0"/>
              <a:t>Understanding the </a:t>
            </a:r>
            <a:r>
              <a:rPr lang="en-US" dirty="0" err="1" smtClean="0"/>
              <a:t>JsonObject</a:t>
            </a:r>
            <a:r>
              <a:rPr lang="en-US" dirty="0" smtClean="0"/>
              <a:t> class</a:t>
            </a:r>
            <a:endParaRPr lang="en-US" dirty="0"/>
          </a:p>
        </p:txBody>
      </p:sp>
      <p:sp>
        <p:nvSpPr>
          <p:cNvPr id="3" name="Content Placeholder 2"/>
          <p:cNvSpPr>
            <a:spLocks noGrp="1"/>
          </p:cNvSpPr>
          <p:nvPr>
            <p:ph idx="1"/>
          </p:nvPr>
        </p:nvSpPr>
        <p:spPr/>
        <p:txBody>
          <a:bodyPr>
            <a:normAutofit fontScale="92500" lnSpcReduction="10000"/>
          </a:bodyPr>
          <a:lstStyle/>
          <a:p>
            <a:pPr>
              <a:buNone/>
            </a:pPr>
            <a:endParaRPr lang="en-US" sz="1800" dirty="0" smtClean="0"/>
          </a:p>
          <a:p>
            <a:pPr>
              <a:buNone/>
            </a:pPr>
            <a:r>
              <a:rPr lang="en-US" sz="1800" dirty="0" smtClean="0"/>
              <a:t>A </a:t>
            </a:r>
            <a:r>
              <a:rPr lang="en-US" sz="1800" b="1" dirty="0" err="1" smtClean="0"/>
              <a:t>JSONObject</a:t>
            </a:r>
            <a:r>
              <a:rPr lang="en-US" sz="1800" b="1" dirty="0" smtClean="0"/>
              <a:t> </a:t>
            </a:r>
            <a:r>
              <a:rPr lang="en-US" sz="1800" dirty="0" smtClean="0"/>
              <a:t>is an unordered collection of name/value pairs. Its external form is a String wrapped in curly braces with colons  between the names and values, and commas between the values and names. </a:t>
            </a:r>
          </a:p>
          <a:p>
            <a:pPr>
              <a:buNone/>
            </a:pPr>
            <a:endParaRPr lang="en-US" sz="1800" dirty="0" smtClean="0"/>
          </a:p>
          <a:p>
            <a:pPr>
              <a:buNone/>
            </a:pPr>
            <a:r>
              <a:rPr lang="en-US" sz="1800" dirty="0" smtClean="0"/>
              <a:t>The </a:t>
            </a:r>
            <a:r>
              <a:rPr lang="en-US" sz="1800" b="1" dirty="0" smtClean="0"/>
              <a:t>‘put’ </a:t>
            </a:r>
            <a:r>
              <a:rPr lang="en-US" sz="1800" dirty="0" smtClean="0"/>
              <a:t>method adds or replace values in an Object. Consider the example given below:</a:t>
            </a:r>
          </a:p>
          <a:p>
            <a:pPr>
              <a:buNone/>
            </a:pPr>
            <a:endParaRPr lang="en-US" sz="1800" dirty="0" smtClean="0"/>
          </a:p>
          <a:p>
            <a:pPr>
              <a:buNone/>
            </a:pPr>
            <a:r>
              <a:rPr lang="en-US" sz="1800" dirty="0" smtClean="0"/>
              <a:t> </a:t>
            </a:r>
            <a:r>
              <a:rPr lang="en-US" sz="1500" b="1" dirty="0" smtClean="0"/>
              <a:t>String </a:t>
            </a:r>
            <a:r>
              <a:rPr lang="en-US" sz="1500" b="1" dirty="0" err="1" smtClean="0"/>
              <a:t>myString</a:t>
            </a:r>
            <a:r>
              <a:rPr lang="en-US" sz="1500" b="1" dirty="0" smtClean="0"/>
              <a:t> = new </a:t>
            </a:r>
            <a:r>
              <a:rPr lang="en-US" sz="1500" b="1" dirty="0" err="1" smtClean="0"/>
              <a:t>JSONObject</a:t>
            </a:r>
            <a:r>
              <a:rPr lang="en-US" sz="1500" b="1" dirty="0" smtClean="0"/>
              <a:t>(). put (“</a:t>
            </a:r>
            <a:r>
              <a:rPr lang="en-US" sz="1500" b="1" dirty="0" err="1" smtClean="0"/>
              <a:t>JSON”,”Hello</a:t>
            </a:r>
            <a:r>
              <a:rPr lang="en-US" sz="1500" b="1" dirty="0" smtClean="0"/>
              <a:t>, World”).</a:t>
            </a:r>
            <a:r>
              <a:rPr lang="en-US" sz="1500" b="1" dirty="0" err="1" smtClean="0"/>
              <a:t>toString</a:t>
            </a:r>
            <a:r>
              <a:rPr lang="en-US" sz="1500" b="1" dirty="0" smtClean="0"/>
              <a:t>();</a:t>
            </a:r>
            <a:endParaRPr lang="en-US" sz="1400" b="1" dirty="0" smtClean="0"/>
          </a:p>
          <a:p>
            <a:pPr>
              <a:buNone/>
            </a:pPr>
            <a:r>
              <a:rPr lang="en-US" sz="1400" b="1" dirty="0" smtClean="0"/>
              <a:t> </a:t>
            </a:r>
          </a:p>
          <a:p>
            <a:pPr>
              <a:buNone/>
            </a:pPr>
            <a:r>
              <a:rPr lang="en-US" sz="1400" b="1" dirty="0" smtClean="0"/>
              <a:t>  The above expression will produce the String :</a:t>
            </a:r>
          </a:p>
          <a:p>
            <a:pPr>
              <a:buNone/>
            </a:pPr>
            <a:r>
              <a:rPr lang="en-US" sz="1400" b="1" dirty="0" smtClean="0"/>
              <a:t>     </a:t>
            </a:r>
            <a:r>
              <a:rPr lang="en-US" sz="1500" b="1" dirty="0" smtClean="0"/>
              <a:t>{“JSON” : “Hello, World” }</a:t>
            </a:r>
            <a:endParaRPr lang="en-US" sz="1400" b="1" dirty="0" smtClean="0"/>
          </a:p>
          <a:p>
            <a:pPr>
              <a:buNone/>
            </a:pPr>
            <a:endParaRPr lang="en-US" sz="1400" b="1" dirty="0" smtClean="0"/>
          </a:p>
          <a:p>
            <a:pPr>
              <a:buNone/>
            </a:pPr>
            <a:r>
              <a:rPr lang="en-US" sz="1500" b="1" dirty="0" smtClean="0">
                <a:solidFill>
                  <a:srgbClr val="FF0000"/>
                </a:solidFill>
              </a:rPr>
              <a:t>  This is exactly how we want it in JavaScript for further processing.</a:t>
            </a:r>
            <a:endParaRPr lang="en-US" sz="1900" b="1" dirty="0" smtClean="0">
              <a:solidFill>
                <a:srgbClr val="FF0000"/>
              </a:solidFill>
            </a:endParaRPr>
          </a:p>
          <a:p>
            <a:pPr>
              <a:buNone/>
            </a:pPr>
            <a:r>
              <a:rPr lang="en-US" sz="1800" dirty="0" smtClean="0"/>
              <a:t> </a:t>
            </a:r>
          </a:p>
          <a:p>
            <a:pPr>
              <a:buNone/>
            </a:pPr>
            <a:r>
              <a:rPr lang="en-US" sz="1800" dirty="0" smtClean="0"/>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18160"/>
          </a:xfrm>
        </p:spPr>
        <p:txBody>
          <a:bodyPr>
            <a:normAutofit fontScale="90000"/>
          </a:bodyPr>
          <a:lstStyle/>
          <a:p>
            <a:r>
              <a:rPr lang="en-US" dirty="0" err="1" smtClean="0"/>
              <a:t>Understaning</a:t>
            </a:r>
            <a:r>
              <a:rPr lang="en-US" dirty="0" smtClean="0"/>
              <a:t>  </a:t>
            </a:r>
            <a:r>
              <a:rPr lang="en-US" dirty="0" err="1" smtClean="0"/>
              <a:t>jsonarray</a:t>
            </a:r>
            <a:r>
              <a:rPr lang="en-US" dirty="0" smtClean="0"/>
              <a:t> class</a:t>
            </a:r>
            <a:endParaRPr lang="en-US" dirty="0"/>
          </a:p>
        </p:txBody>
      </p:sp>
      <p:sp>
        <p:nvSpPr>
          <p:cNvPr id="11" name="Content Placeholder 10"/>
          <p:cNvSpPr>
            <a:spLocks noGrp="1"/>
          </p:cNvSpPr>
          <p:nvPr>
            <p:ph idx="1"/>
          </p:nvPr>
        </p:nvSpPr>
        <p:spPr>
          <a:xfrm>
            <a:off x="304800" y="1066800"/>
            <a:ext cx="7467600" cy="5410200"/>
          </a:xfrm>
        </p:spPr>
        <p:txBody>
          <a:bodyPr/>
          <a:lstStyle/>
          <a:p>
            <a:pPr>
              <a:buNone/>
            </a:pPr>
            <a:endParaRPr lang="en-US" dirty="0" smtClean="0"/>
          </a:p>
          <a:p>
            <a:pPr>
              <a:buNone/>
            </a:pPr>
            <a:endParaRPr lang="en-US" dirty="0" smtClean="0"/>
          </a:p>
          <a:p>
            <a:r>
              <a:rPr lang="en-US" dirty="0" smtClean="0"/>
              <a:t>The </a:t>
            </a:r>
            <a:r>
              <a:rPr lang="en-US" dirty="0" err="1" smtClean="0"/>
              <a:t>JSONArray</a:t>
            </a:r>
            <a:r>
              <a:rPr lang="en-US" dirty="0" smtClean="0"/>
              <a:t>  can hold Several JSON Object in the format that we require in the Client Side.</a:t>
            </a:r>
          </a:p>
          <a:p>
            <a:endParaRPr lang="en-US" dirty="0" smtClean="0"/>
          </a:p>
          <a:p>
            <a:r>
              <a:rPr lang="en-US" dirty="0" smtClean="0"/>
              <a:t>Ajax will transfer this back to the JavaScript in the Client Code where this pattern which is in string form can be easily parsed using </a:t>
            </a:r>
            <a:r>
              <a:rPr lang="en-US" dirty="0" err="1" smtClean="0"/>
              <a:t>eval</a:t>
            </a:r>
            <a:r>
              <a:rPr lang="en-US" dirty="0" smtClean="0"/>
              <a:t>() or parse() functions.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18160"/>
          </a:xfrm>
        </p:spPr>
        <p:txBody>
          <a:bodyPr>
            <a:normAutofit fontScale="90000"/>
          </a:bodyPr>
          <a:lstStyle/>
          <a:p>
            <a:r>
              <a:rPr lang="en-US" dirty="0" smtClean="0"/>
              <a:t>JSON-SERVLET EXAMPLE</a:t>
            </a:r>
            <a:endParaRPr lang="en-US" dirty="0"/>
          </a:p>
        </p:txBody>
      </p:sp>
      <p:sp>
        <p:nvSpPr>
          <p:cNvPr id="3" name="Content Placeholder 2"/>
          <p:cNvSpPr>
            <a:spLocks noGrp="1"/>
          </p:cNvSpPr>
          <p:nvPr>
            <p:ph idx="1"/>
          </p:nvPr>
        </p:nvSpPr>
        <p:spPr>
          <a:xfrm>
            <a:off x="457200" y="914400"/>
            <a:ext cx="7239000" cy="5791200"/>
          </a:xfrm>
        </p:spPr>
        <p:txBody>
          <a:bodyPr>
            <a:normAutofit fontScale="55000" lnSpcReduction="20000"/>
          </a:bodyPr>
          <a:lstStyle/>
          <a:p>
            <a:pPr>
              <a:buNone/>
            </a:pPr>
            <a:r>
              <a:rPr lang="en-US" b="1" dirty="0" smtClean="0"/>
              <a:t>import </a:t>
            </a:r>
            <a:r>
              <a:rPr lang="en-US" dirty="0" smtClean="0"/>
              <a:t>java.io.*;</a:t>
            </a:r>
          </a:p>
          <a:p>
            <a:pPr>
              <a:buNone/>
            </a:pPr>
            <a:r>
              <a:rPr lang="en-US" b="1" dirty="0" smtClean="0"/>
              <a:t>import </a:t>
            </a:r>
            <a:r>
              <a:rPr lang="en-US" dirty="0" err="1" smtClean="0"/>
              <a:t>javax.servlet</a:t>
            </a:r>
            <a:r>
              <a:rPr lang="en-US" dirty="0" smtClean="0"/>
              <a:t>.*;</a:t>
            </a:r>
          </a:p>
          <a:p>
            <a:pPr>
              <a:buNone/>
            </a:pPr>
            <a:r>
              <a:rPr lang="en-US" b="1" dirty="0" smtClean="0"/>
              <a:t>import </a:t>
            </a:r>
            <a:r>
              <a:rPr lang="en-US" dirty="0" err="1" smtClean="0"/>
              <a:t>javax.servlet.http</a:t>
            </a:r>
            <a:r>
              <a:rPr lang="en-US" dirty="0" smtClean="0"/>
              <a:t>.*;</a:t>
            </a:r>
          </a:p>
          <a:p>
            <a:pPr>
              <a:buNone/>
            </a:pPr>
            <a:r>
              <a:rPr lang="en-US" b="1" dirty="0" smtClean="0"/>
              <a:t>import   </a:t>
            </a:r>
            <a:r>
              <a:rPr lang="en-US" dirty="0" err="1" smtClean="0"/>
              <a:t>net.sf.json.JSONObject</a:t>
            </a:r>
            <a:r>
              <a:rPr lang="en-US" dirty="0" smtClean="0"/>
              <a:t>;</a:t>
            </a:r>
          </a:p>
          <a:p>
            <a:pPr>
              <a:buNone/>
            </a:pPr>
            <a:r>
              <a:rPr lang="en-US" dirty="0" smtClean="0"/>
              <a:t>import    </a:t>
            </a:r>
            <a:r>
              <a:rPr lang="en-US" dirty="0" err="1" smtClean="0"/>
              <a:t>net.sf.json.JSONArray</a:t>
            </a: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b="1" dirty="0" smtClean="0"/>
              <a:t>public class </a:t>
            </a:r>
            <a:r>
              <a:rPr lang="en-US" dirty="0" err="1" smtClean="0"/>
              <a:t>JSONServlet</a:t>
            </a:r>
            <a:r>
              <a:rPr lang="en-US" dirty="0" smtClean="0"/>
              <a:t> </a:t>
            </a:r>
            <a:r>
              <a:rPr lang="en-US" b="1" dirty="0" smtClean="0"/>
              <a:t>extends  </a:t>
            </a:r>
            <a:r>
              <a:rPr lang="en-US" dirty="0" err="1" smtClean="0"/>
              <a:t>HttpServlet</a:t>
            </a:r>
            <a:r>
              <a:rPr lang="en-US" dirty="0" smtClean="0"/>
              <a:t>{</a:t>
            </a:r>
            <a:br>
              <a:rPr lang="en-US" dirty="0" smtClean="0"/>
            </a:br>
            <a:r>
              <a:rPr lang="en-US" dirty="0" smtClean="0"/>
              <a:t>  </a:t>
            </a:r>
            <a:r>
              <a:rPr lang="en-US" b="1" dirty="0" smtClean="0"/>
              <a:t>public void </a:t>
            </a:r>
            <a:r>
              <a:rPr lang="en-US" dirty="0" err="1" smtClean="0"/>
              <a:t>doGet</a:t>
            </a:r>
            <a:r>
              <a:rPr lang="en-US" dirty="0" smtClean="0"/>
              <a:t>(</a:t>
            </a:r>
            <a:r>
              <a:rPr lang="en-US" dirty="0" err="1" smtClean="0"/>
              <a:t>HttpServletRequest</a:t>
            </a:r>
            <a:r>
              <a:rPr lang="en-US" dirty="0" smtClean="0"/>
              <a:t> request,</a:t>
            </a:r>
            <a:br>
              <a:rPr lang="en-US" dirty="0" smtClean="0"/>
            </a:br>
            <a:r>
              <a:rPr lang="en-US" dirty="0" smtClean="0"/>
              <a:t>  </a:t>
            </a:r>
            <a:r>
              <a:rPr lang="en-US" dirty="0" err="1" smtClean="0"/>
              <a:t>HttpServletResponse</a:t>
            </a:r>
            <a:r>
              <a:rPr lang="en-US" dirty="0" smtClean="0"/>
              <a:t> response)</a:t>
            </a:r>
            <a:br>
              <a:rPr lang="en-US" dirty="0" smtClean="0"/>
            </a:br>
            <a:r>
              <a:rPr lang="en-US" dirty="0" smtClean="0"/>
              <a:t>   </a:t>
            </a:r>
            <a:r>
              <a:rPr lang="en-US" b="1" dirty="0" smtClean="0"/>
              <a:t>throws </a:t>
            </a:r>
            <a:r>
              <a:rPr lang="en-US" dirty="0" err="1" smtClean="0"/>
              <a:t>ServletException,IOException</a:t>
            </a:r>
            <a:r>
              <a:rPr lang="en-US" dirty="0" smtClean="0"/>
              <a:t>{</a:t>
            </a:r>
          </a:p>
          <a:p>
            <a:pPr>
              <a:buNone/>
            </a:pPr>
            <a:r>
              <a:rPr lang="en-US" dirty="0" smtClean="0"/>
              <a:t>           </a:t>
            </a:r>
            <a:r>
              <a:rPr lang="en-US" sz="2300" dirty="0" err="1" smtClean="0">
                <a:solidFill>
                  <a:srgbClr val="C00000"/>
                </a:solidFill>
              </a:rPr>
              <a:t>JSONArray</a:t>
            </a:r>
            <a:r>
              <a:rPr lang="en-US" sz="2300" dirty="0" smtClean="0">
                <a:solidFill>
                  <a:srgbClr val="C00000"/>
                </a:solidFill>
              </a:rPr>
              <a:t>   </a:t>
            </a:r>
            <a:r>
              <a:rPr lang="en-US" sz="2300" dirty="0" err="1" smtClean="0">
                <a:solidFill>
                  <a:srgbClr val="C00000"/>
                </a:solidFill>
              </a:rPr>
              <a:t>empArray</a:t>
            </a:r>
            <a:r>
              <a:rPr lang="en-US" sz="2300" dirty="0" smtClean="0">
                <a:solidFill>
                  <a:srgbClr val="C00000"/>
                </a:solidFill>
              </a:rPr>
              <a:t>=</a:t>
            </a:r>
            <a:r>
              <a:rPr lang="en-US" sz="2300" b="1" dirty="0" smtClean="0">
                <a:solidFill>
                  <a:srgbClr val="C00000"/>
                </a:solidFill>
              </a:rPr>
              <a:t>new </a:t>
            </a:r>
            <a:r>
              <a:rPr lang="en-US" sz="2300" dirty="0" err="1" smtClean="0">
                <a:solidFill>
                  <a:srgbClr val="C00000"/>
                </a:solidFill>
              </a:rPr>
              <a:t>JSONArray</a:t>
            </a:r>
            <a:r>
              <a:rPr lang="en-US" sz="2300" dirty="0" smtClean="0">
                <a:solidFill>
                  <a:srgbClr val="C00000"/>
                </a:solidFill>
              </a:rPr>
              <a:t>();</a:t>
            </a:r>
          </a:p>
          <a:p>
            <a:pPr>
              <a:buNone/>
            </a:pPr>
            <a:r>
              <a:rPr lang="en-US" sz="2300" dirty="0" smtClean="0">
                <a:solidFill>
                  <a:srgbClr val="C00000"/>
                </a:solidFill>
              </a:rPr>
              <a:t>            </a:t>
            </a:r>
            <a:r>
              <a:rPr lang="en-US" sz="2300" dirty="0" err="1" smtClean="0">
                <a:solidFill>
                  <a:srgbClr val="C00000"/>
                </a:solidFill>
              </a:rPr>
              <a:t>JSONObject</a:t>
            </a:r>
            <a:r>
              <a:rPr lang="en-US" sz="2300" dirty="0" smtClean="0">
                <a:solidFill>
                  <a:srgbClr val="C00000"/>
                </a:solidFill>
              </a:rPr>
              <a:t> </a:t>
            </a:r>
            <a:r>
              <a:rPr lang="en-US" sz="2300" dirty="0" err="1" smtClean="0">
                <a:solidFill>
                  <a:srgbClr val="C00000"/>
                </a:solidFill>
              </a:rPr>
              <a:t>empObject</a:t>
            </a:r>
            <a:r>
              <a:rPr lang="en-US" sz="2300" dirty="0" smtClean="0">
                <a:solidFill>
                  <a:srgbClr val="C00000"/>
                </a:solidFill>
              </a:rPr>
              <a:t> = new </a:t>
            </a:r>
            <a:r>
              <a:rPr lang="en-US" sz="2300" dirty="0" err="1" smtClean="0">
                <a:solidFill>
                  <a:srgbClr val="C00000"/>
                </a:solidFill>
              </a:rPr>
              <a:t>JSONObject</a:t>
            </a:r>
            <a:r>
              <a:rPr lang="en-US" sz="2300" dirty="0" smtClean="0">
                <a:solidFill>
                  <a:srgbClr val="C00000"/>
                </a:solidFill>
              </a:rPr>
              <a:t>();</a:t>
            </a:r>
          </a:p>
          <a:p>
            <a:pPr>
              <a:buNone/>
            </a:pPr>
            <a:r>
              <a:rPr lang="en-US" sz="2300" dirty="0" smtClean="0"/>
              <a:t>            </a:t>
            </a:r>
            <a:r>
              <a:rPr lang="en-US" sz="2300" dirty="0" err="1" smtClean="0"/>
              <a:t>empObject.put</a:t>
            </a:r>
            <a:r>
              <a:rPr lang="en-US" sz="2300" dirty="0" smtClean="0"/>
              <a:t>(“Name”, “Allen”);</a:t>
            </a:r>
          </a:p>
          <a:p>
            <a:pPr>
              <a:buNone/>
            </a:pPr>
            <a:r>
              <a:rPr lang="en-US" sz="2300" dirty="0" smtClean="0"/>
              <a:t>            </a:t>
            </a:r>
            <a:r>
              <a:rPr lang="en-US" sz="2300" dirty="0" err="1" smtClean="0"/>
              <a:t>empArray.add</a:t>
            </a:r>
            <a:r>
              <a:rPr lang="en-US" sz="2300" dirty="0" smtClean="0"/>
              <a:t>(</a:t>
            </a:r>
            <a:r>
              <a:rPr lang="en-US" sz="2300" dirty="0" err="1" smtClean="0"/>
              <a:t>empObject</a:t>
            </a:r>
            <a:r>
              <a:rPr lang="en-US" sz="2300" dirty="0" smtClean="0"/>
              <a:t>);</a:t>
            </a:r>
          </a:p>
          <a:p>
            <a:pPr>
              <a:buNone/>
            </a:pPr>
            <a:r>
              <a:rPr lang="en-US" sz="2300" dirty="0" smtClean="0"/>
              <a:t>            </a:t>
            </a:r>
            <a:r>
              <a:rPr lang="en-US" sz="2300" dirty="0" err="1" smtClean="0"/>
              <a:t>out.println</a:t>
            </a:r>
            <a:r>
              <a:rPr lang="en-US" sz="2300" dirty="0" smtClean="0"/>
              <a:t>(</a:t>
            </a:r>
            <a:r>
              <a:rPr lang="en-US" sz="2300" dirty="0" err="1" smtClean="0"/>
              <a:t>empArray</a:t>
            </a:r>
            <a:r>
              <a:rPr lang="en-US" sz="2300" dirty="0" smtClean="0"/>
              <a:t>);</a:t>
            </a:r>
            <a:endParaRPr lang="en-US" sz="2900" dirty="0" smtClean="0"/>
          </a:p>
          <a:p>
            <a:pPr>
              <a:buNone/>
            </a:pPr>
            <a:r>
              <a:rPr lang="en-US" sz="2900" dirty="0" smtClean="0">
                <a:solidFill>
                  <a:srgbClr val="C00000"/>
                </a:solidFill>
              </a:rPr>
              <a:t>    </a:t>
            </a:r>
            <a:r>
              <a:rPr lang="en-US" dirty="0" smtClean="0"/>
              <a:t>  }</a:t>
            </a:r>
          </a:p>
          <a:p>
            <a:pPr>
              <a:buNone/>
            </a:pPr>
            <a:r>
              <a:rPr lang="en-US" dirty="0" smtClean="0"/>
              <a:t/>
            </a:r>
            <a:br>
              <a:rPr lang="en-US" dirty="0" smtClean="0"/>
            </a:br>
            <a:r>
              <a:rPr lang="en-US" dirty="0" smtClean="0"/>
              <a:t>  }</a:t>
            </a:r>
            <a:br>
              <a:rPr lang="en-US" dirty="0" smtClean="0"/>
            </a:br>
            <a:r>
              <a:rPr lang="en-US" dirty="0" smtClean="0"/>
              <a:t>}       </a:t>
            </a:r>
          </a:p>
          <a:p>
            <a:pPr>
              <a:buNone/>
            </a:pPr>
            <a:r>
              <a:rPr lang="en-US" dirty="0" smtClean="0"/>
              <a:t>           ** </a:t>
            </a:r>
            <a:r>
              <a:rPr lang="en-US" b="1" dirty="0" smtClean="0">
                <a:solidFill>
                  <a:srgbClr val="FF0000"/>
                </a:solidFill>
              </a:rPr>
              <a:t>Similarly multiple JSON Objects can be added to the JSON Array</a:t>
            </a:r>
          </a:p>
          <a:p>
            <a:pPr>
              <a:buNone/>
            </a:pPr>
            <a:r>
              <a:rPr lang="en-US" b="1" dirty="0" smtClean="0">
                <a:solidFill>
                  <a:srgbClr val="FF0000"/>
                </a:solidFill>
              </a:rPr>
              <a:t>           </a:t>
            </a:r>
            <a:r>
              <a:rPr lang="en-US" b="1" dirty="0" smtClean="0"/>
              <a:t>** The Above Data will be available in the Client side as :</a:t>
            </a:r>
          </a:p>
          <a:p>
            <a:pPr>
              <a:buNone/>
            </a:pPr>
            <a:r>
              <a:rPr lang="en-US" sz="2900" b="1" dirty="0" smtClean="0">
                <a:solidFill>
                  <a:srgbClr val="C00000"/>
                </a:solidFill>
              </a:rPr>
              <a:t>              [ {“Name”:”Allen”}]  -&gt; Single Object inside a JSON Array</a:t>
            </a:r>
          </a:p>
          <a:p>
            <a:pPr>
              <a:buNone/>
            </a:pPr>
            <a:endParaRPr lang="en-US" b="1" dirty="0">
              <a:solidFill>
                <a:srgbClr val="FF0000"/>
              </a:solidFill>
            </a:endParaRPr>
          </a:p>
        </p:txBody>
      </p:sp>
      <p:sp>
        <p:nvSpPr>
          <p:cNvPr id="4" name="Oval 3"/>
          <p:cNvSpPr/>
          <p:nvPr/>
        </p:nvSpPr>
        <p:spPr>
          <a:xfrm>
            <a:off x="4343400" y="914400"/>
            <a:ext cx="33528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smtClean="0"/>
              <a:t>Ajax will invoke this SERVLET residing in the Server</a:t>
            </a:r>
            <a:endParaRPr lang="en-US" sz="1400" dirty="0"/>
          </a:p>
        </p:txBody>
      </p:sp>
      <p:cxnSp>
        <p:nvCxnSpPr>
          <p:cNvPr id="6" name="Straight Arrow Connector 5"/>
          <p:cNvCxnSpPr/>
          <p:nvPr/>
        </p:nvCxnSpPr>
        <p:spPr>
          <a:xfrm>
            <a:off x="3352800" y="4419600"/>
            <a:ext cx="1752600" cy="3048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8" name="Oval 7"/>
          <p:cNvSpPr/>
          <p:nvPr/>
        </p:nvSpPr>
        <p:spPr>
          <a:xfrm>
            <a:off x="5181600" y="4191000"/>
            <a:ext cx="2438400" cy="1143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100" b="1" dirty="0" smtClean="0"/>
              <a:t>This data is send to the Client and  there the JavaScript can use JSON’s </a:t>
            </a:r>
            <a:r>
              <a:rPr lang="en-US" sz="1100" b="1" dirty="0" err="1" smtClean="0"/>
              <a:t>eval</a:t>
            </a:r>
            <a:r>
              <a:rPr lang="en-US" sz="1100" b="1" dirty="0" smtClean="0"/>
              <a:t>() function  for process this data</a:t>
            </a:r>
            <a:endParaRPr lang="en-US" sz="11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441960"/>
          </a:xfrm>
        </p:spPr>
        <p:txBody>
          <a:bodyPr>
            <a:normAutofit fontScale="90000"/>
          </a:bodyPr>
          <a:lstStyle/>
          <a:p>
            <a:r>
              <a:rPr lang="en-US" dirty="0" smtClean="0"/>
              <a:t>JSON PARSER</a:t>
            </a:r>
            <a:endParaRPr lang="en-US" dirty="0"/>
          </a:p>
        </p:txBody>
      </p:sp>
      <p:sp>
        <p:nvSpPr>
          <p:cNvPr id="3" name="Content Placeholder 2"/>
          <p:cNvSpPr>
            <a:spLocks noGrp="1"/>
          </p:cNvSpPr>
          <p:nvPr>
            <p:ph idx="1"/>
          </p:nvPr>
        </p:nvSpPr>
        <p:spPr>
          <a:xfrm>
            <a:off x="457200" y="838200"/>
            <a:ext cx="7239000" cy="5617536"/>
          </a:xfrm>
        </p:spPr>
        <p:txBody>
          <a:bodyPr>
            <a:normAutofit/>
          </a:bodyPr>
          <a:lstStyle/>
          <a:p>
            <a:pPr algn="just"/>
            <a:endParaRPr lang="en-US" sz="2000" dirty="0" smtClean="0"/>
          </a:p>
          <a:p>
            <a:pPr algn="just"/>
            <a:r>
              <a:rPr lang="en-US" sz="2000" dirty="0" smtClean="0"/>
              <a:t>The </a:t>
            </a:r>
            <a:r>
              <a:rPr lang="en-US" sz="2000" dirty="0" err="1" smtClean="0"/>
              <a:t>eval</a:t>
            </a:r>
            <a:r>
              <a:rPr lang="en-US" sz="2000" dirty="0" smtClean="0"/>
              <a:t>() function can compile and execute any </a:t>
            </a:r>
            <a:r>
              <a:rPr lang="en-US" sz="2000" dirty="0" err="1" smtClean="0"/>
              <a:t>JavaScript.This</a:t>
            </a:r>
            <a:r>
              <a:rPr lang="en-US" sz="2000" dirty="0" smtClean="0"/>
              <a:t> represents a potential security problem.</a:t>
            </a:r>
          </a:p>
          <a:p>
            <a:pPr algn="just">
              <a:buNone/>
            </a:pPr>
            <a:endParaRPr lang="en-US" sz="2000" dirty="0" smtClean="0"/>
          </a:p>
          <a:p>
            <a:pPr algn="just">
              <a:buNone/>
            </a:pPr>
            <a:endParaRPr lang="en-US" sz="2000" dirty="0" smtClean="0"/>
          </a:p>
          <a:p>
            <a:pPr algn="just"/>
            <a:r>
              <a:rPr lang="en-US" sz="2000" dirty="0" smtClean="0"/>
              <a:t>It is safer to use a JSON parser to convert a JSON text to a JavaScript object. A JSON parser will recognize only JSON text and will not compile scripts.</a:t>
            </a:r>
          </a:p>
          <a:p>
            <a:pPr algn="just">
              <a:buNone/>
            </a:pPr>
            <a:endParaRPr lang="en-US" sz="2000" dirty="0" smtClean="0"/>
          </a:p>
          <a:p>
            <a:pPr algn="just">
              <a:buNone/>
            </a:pPr>
            <a:endParaRPr lang="en-US" sz="2000" dirty="0" smtClean="0"/>
          </a:p>
          <a:p>
            <a:pPr algn="just"/>
            <a:r>
              <a:rPr lang="en-US" sz="2000" dirty="0" smtClean="0"/>
              <a:t>In browsers that provide native JSON support, JSON parsers are also faster.</a:t>
            </a:r>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18160"/>
          </a:xfrm>
        </p:spPr>
        <p:txBody>
          <a:bodyPr>
            <a:normAutofit fontScale="90000"/>
          </a:bodyPr>
          <a:lstStyle/>
          <a:p>
            <a:r>
              <a:rPr lang="en-US" dirty="0" smtClean="0"/>
              <a:t>JSON PARSER EXAMPLE</a:t>
            </a:r>
            <a:endParaRPr lang="en-US" dirty="0"/>
          </a:p>
        </p:txBody>
      </p:sp>
      <p:sp>
        <p:nvSpPr>
          <p:cNvPr id="3" name="Content Placeholder 2"/>
          <p:cNvSpPr>
            <a:spLocks noGrp="1"/>
          </p:cNvSpPr>
          <p:nvPr>
            <p:ph idx="1"/>
          </p:nvPr>
        </p:nvSpPr>
        <p:spPr>
          <a:xfrm>
            <a:off x="304800" y="990600"/>
            <a:ext cx="7543800" cy="5638800"/>
          </a:xfrm>
        </p:spPr>
        <p:txBody>
          <a:bodyPr>
            <a:normAutofit fontScale="62500" lnSpcReduction="20000"/>
          </a:bodyPr>
          <a:lstStyle/>
          <a:p>
            <a:pPr>
              <a:buNone/>
            </a:pPr>
            <a:r>
              <a:rPr lang="en-US" dirty="0" smtClean="0"/>
              <a:t>&lt;html&gt;</a:t>
            </a:r>
          </a:p>
          <a:p>
            <a:pPr>
              <a:buNone/>
            </a:pPr>
            <a:r>
              <a:rPr lang="en-US" dirty="0" smtClean="0"/>
              <a:t>&lt;body&gt;</a:t>
            </a:r>
          </a:p>
          <a:p>
            <a:pPr>
              <a:buNone/>
            </a:pPr>
            <a:r>
              <a:rPr lang="en-US" dirty="0" smtClean="0"/>
              <a:t>&lt;h2&gt;Create Object from JSON String&lt;/h3&gt;</a:t>
            </a:r>
          </a:p>
          <a:p>
            <a:pPr>
              <a:buNone/>
            </a:pPr>
            <a:r>
              <a:rPr lang="en-US" dirty="0" smtClean="0"/>
              <a:t>&lt;p&gt;</a:t>
            </a:r>
          </a:p>
          <a:p>
            <a:pPr>
              <a:buNone/>
            </a:pPr>
            <a:r>
              <a:rPr lang="en-US" dirty="0" smtClean="0"/>
              <a:t>First Name: &lt;span id="</a:t>
            </a:r>
            <a:r>
              <a:rPr lang="en-US" dirty="0" err="1" smtClean="0"/>
              <a:t>fname</a:t>
            </a:r>
            <a:r>
              <a:rPr lang="en-US" dirty="0" smtClean="0"/>
              <a:t>"&gt;&lt;/span&gt;&lt;</a:t>
            </a:r>
            <a:r>
              <a:rPr lang="en-US" dirty="0" err="1" smtClean="0"/>
              <a:t>br</a:t>
            </a:r>
            <a:r>
              <a:rPr lang="en-US" dirty="0" smtClean="0"/>
              <a:t> /&gt; </a:t>
            </a:r>
          </a:p>
          <a:p>
            <a:pPr>
              <a:buNone/>
            </a:pPr>
            <a:r>
              <a:rPr lang="en-US" dirty="0" smtClean="0"/>
              <a:t>Last Name: &lt;span id="</a:t>
            </a:r>
            <a:r>
              <a:rPr lang="en-US" dirty="0" err="1" smtClean="0"/>
              <a:t>lname</a:t>
            </a:r>
            <a:r>
              <a:rPr lang="en-US" dirty="0" smtClean="0"/>
              <a:t>"&gt;&lt;/span&gt;&lt;</a:t>
            </a:r>
            <a:r>
              <a:rPr lang="en-US" dirty="0" err="1" smtClean="0"/>
              <a:t>br</a:t>
            </a:r>
            <a:r>
              <a:rPr lang="en-US" dirty="0" smtClean="0"/>
              <a:t> /&gt; </a:t>
            </a:r>
          </a:p>
          <a:p>
            <a:pPr>
              <a:buNone/>
            </a:pPr>
            <a:r>
              <a:rPr lang="en-US" dirty="0" smtClean="0"/>
              <a:t>&lt;/p&gt; </a:t>
            </a:r>
          </a:p>
          <a:p>
            <a:pPr>
              <a:buNone/>
            </a:pPr>
            <a:r>
              <a:rPr lang="en-US" dirty="0" smtClean="0"/>
              <a:t>&lt;script type="text/</a:t>
            </a:r>
            <a:r>
              <a:rPr lang="en-US" dirty="0" err="1" smtClean="0"/>
              <a:t>javascript</a:t>
            </a:r>
            <a:r>
              <a:rPr lang="en-US" dirty="0" smtClean="0"/>
              <a:t>"&gt;</a:t>
            </a:r>
          </a:p>
          <a:p>
            <a:pPr>
              <a:buNone/>
            </a:pPr>
            <a:r>
              <a:rPr lang="en-US" dirty="0" err="1" smtClean="0"/>
              <a:t>var</a:t>
            </a:r>
            <a:r>
              <a:rPr lang="en-US" dirty="0" smtClean="0"/>
              <a:t> txt = '{"employees":[' +</a:t>
            </a:r>
          </a:p>
          <a:p>
            <a:pPr>
              <a:buNone/>
            </a:pPr>
            <a:r>
              <a:rPr lang="en-US" dirty="0" smtClean="0"/>
              <a:t>'{"</a:t>
            </a:r>
            <a:r>
              <a:rPr lang="en-US" dirty="0" err="1" smtClean="0"/>
              <a:t>firstName</a:t>
            </a:r>
            <a:r>
              <a:rPr lang="en-US" dirty="0" smtClean="0"/>
              <a:t>":"</a:t>
            </a:r>
            <a:r>
              <a:rPr lang="en-US" dirty="0" err="1" smtClean="0"/>
              <a:t>John","lastName</a:t>
            </a:r>
            <a:r>
              <a:rPr lang="en-US" dirty="0" smtClean="0"/>
              <a:t>":"Doe" },' +</a:t>
            </a:r>
          </a:p>
          <a:p>
            <a:pPr>
              <a:buNone/>
            </a:pPr>
            <a:r>
              <a:rPr lang="en-US" dirty="0" smtClean="0"/>
              <a:t>'{"</a:t>
            </a:r>
            <a:r>
              <a:rPr lang="en-US" dirty="0" err="1" smtClean="0"/>
              <a:t>firstName</a:t>
            </a:r>
            <a:r>
              <a:rPr lang="en-US" dirty="0" smtClean="0"/>
              <a:t>":"</a:t>
            </a:r>
            <a:r>
              <a:rPr lang="en-US" dirty="0" err="1" smtClean="0"/>
              <a:t>Anna","lastName</a:t>
            </a:r>
            <a:r>
              <a:rPr lang="en-US" dirty="0" smtClean="0"/>
              <a:t>":"Smith" },' +</a:t>
            </a:r>
          </a:p>
          <a:p>
            <a:pPr>
              <a:buNone/>
            </a:pPr>
            <a:r>
              <a:rPr lang="en-US" dirty="0" smtClean="0"/>
              <a:t>'{"</a:t>
            </a:r>
            <a:r>
              <a:rPr lang="en-US" dirty="0" err="1" smtClean="0"/>
              <a:t>firstName</a:t>
            </a:r>
            <a:r>
              <a:rPr lang="en-US" dirty="0" smtClean="0"/>
              <a:t>":"</a:t>
            </a:r>
            <a:r>
              <a:rPr lang="en-US" dirty="0" err="1" smtClean="0"/>
              <a:t>Peter","lastName</a:t>
            </a:r>
            <a:r>
              <a:rPr lang="en-US" dirty="0" smtClean="0"/>
              <a:t>":"Jones" }]}';</a:t>
            </a:r>
          </a:p>
          <a:p>
            <a:pPr>
              <a:buNone/>
            </a:pPr>
            <a:endParaRPr lang="en-US" dirty="0" smtClean="0"/>
          </a:p>
          <a:p>
            <a:pPr>
              <a:buNone/>
            </a:pPr>
            <a:r>
              <a:rPr lang="en-US" sz="3200" dirty="0" err="1" smtClean="0">
                <a:solidFill>
                  <a:srgbClr val="C00000"/>
                </a:solidFill>
              </a:rPr>
              <a:t>obj</a:t>
            </a:r>
            <a:r>
              <a:rPr lang="en-US" sz="3200" dirty="0" smtClean="0">
                <a:solidFill>
                  <a:srgbClr val="C00000"/>
                </a:solidFill>
              </a:rPr>
              <a:t> = </a:t>
            </a:r>
            <a:r>
              <a:rPr lang="en-US" sz="3200" dirty="0" err="1" smtClean="0">
                <a:solidFill>
                  <a:srgbClr val="C00000"/>
                </a:solidFill>
              </a:rPr>
              <a:t>JSON.parse</a:t>
            </a:r>
            <a:r>
              <a:rPr lang="en-US" sz="3200" dirty="0" smtClean="0">
                <a:solidFill>
                  <a:srgbClr val="C00000"/>
                </a:solidFill>
              </a:rPr>
              <a:t>(txt);</a:t>
            </a:r>
          </a:p>
          <a:p>
            <a:pPr>
              <a:buNone/>
            </a:pPr>
            <a:endParaRPr lang="en-US" dirty="0" smtClean="0"/>
          </a:p>
          <a:p>
            <a:pPr>
              <a:buNone/>
            </a:pPr>
            <a:r>
              <a:rPr lang="en-US" dirty="0" err="1" smtClean="0"/>
              <a:t>document.getElementById</a:t>
            </a:r>
            <a:r>
              <a:rPr lang="en-US" dirty="0" smtClean="0"/>
              <a:t>("</a:t>
            </a:r>
            <a:r>
              <a:rPr lang="en-US" dirty="0" err="1" smtClean="0"/>
              <a:t>fname</a:t>
            </a:r>
            <a:r>
              <a:rPr lang="en-US" dirty="0" smtClean="0"/>
              <a:t>").</a:t>
            </a:r>
            <a:r>
              <a:rPr lang="en-US" dirty="0" err="1" smtClean="0"/>
              <a:t>innerHTML</a:t>
            </a:r>
            <a:r>
              <a:rPr lang="en-US" dirty="0" smtClean="0"/>
              <a:t>=</a:t>
            </a:r>
            <a:r>
              <a:rPr lang="en-US" dirty="0" err="1" smtClean="0"/>
              <a:t>obj.employees</a:t>
            </a:r>
            <a:r>
              <a:rPr lang="en-US" dirty="0" smtClean="0"/>
              <a:t>[1].</a:t>
            </a:r>
            <a:r>
              <a:rPr lang="en-US" dirty="0" err="1" smtClean="0"/>
              <a:t>firstName</a:t>
            </a:r>
            <a:r>
              <a:rPr lang="en-US" dirty="0" smtClean="0"/>
              <a:t> </a:t>
            </a:r>
          </a:p>
          <a:p>
            <a:pPr>
              <a:buNone/>
            </a:pPr>
            <a:r>
              <a:rPr lang="en-US" dirty="0" err="1" smtClean="0"/>
              <a:t>document.getElementById</a:t>
            </a:r>
            <a:r>
              <a:rPr lang="en-US" dirty="0" smtClean="0"/>
              <a:t>("</a:t>
            </a:r>
            <a:r>
              <a:rPr lang="en-US" dirty="0" err="1" smtClean="0"/>
              <a:t>lname</a:t>
            </a:r>
            <a:r>
              <a:rPr lang="en-US" dirty="0" smtClean="0"/>
              <a:t>").</a:t>
            </a:r>
            <a:r>
              <a:rPr lang="en-US" dirty="0" err="1" smtClean="0"/>
              <a:t>innerHTML</a:t>
            </a:r>
            <a:r>
              <a:rPr lang="en-US" dirty="0" smtClean="0"/>
              <a:t>=</a:t>
            </a:r>
            <a:r>
              <a:rPr lang="en-US" dirty="0" err="1" smtClean="0"/>
              <a:t>obj.employees</a:t>
            </a:r>
            <a:r>
              <a:rPr lang="en-US" dirty="0" smtClean="0"/>
              <a:t>[1].</a:t>
            </a:r>
            <a:r>
              <a:rPr lang="en-US" dirty="0" err="1" smtClean="0"/>
              <a:t>lastName</a:t>
            </a:r>
            <a:r>
              <a:rPr lang="en-US" dirty="0" smtClean="0"/>
              <a:t> </a:t>
            </a:r>
          </a:p>
          <a:p>
            <a:pPr>
              <a:buNone/>
            </a:pPr>
            <a:r>
              <a:rPr lang="en-US" dirty="0" smtClean="0"/>
              <a:t>&lt;/script&gt;</a:t>
            </a:r>
          </a:p>
          <a:p>
            <a:pPr>
              <a:buNone/>
            </a:pPr>
            <a:r>
              <a:rPr lang="en-US" dirty="0" smtClean="0"/>
              <a:t>&lt;/body&gt;</a:t>
            </a:r>
          </a:p>
          <a:p>
            <a:pPr>
              <a:buNone/>
            </a:pPr>
            <a:r>
              <a:rPr lang="en-US" dirty="0" smtClean="0"/>
              <a:t>&lt;/html&gt;</a:t>
            </a:r>
          </a:p>
          <a:p>
            <a:pPr>
              <a:buNone/>
            </a:pPr>
            <a:endParaRPr lang="en-US" dirty="0" smtClean="0"/>
          </a:p>
          <a:p>
            <a:pPr>
              <a:buNone/>
            </a:pPr>
            <a:endParaRPr lang="en-US" dirty="0"/>
          </a:p>
        </p:txBody>
      </p:sp>
      <p:cxnSp>
        <p:nvCxnSpPr>
          <p:cNvPr id="5" name="Straight Arrow Connector 4"/>
          <p:cNvCxnSpPr>
            <a:endCxn id="6" idx="2"/>
          </p:cNvCxnSpPr>
          <p:nvPr/>
        </p:nvCxnSpPr>
        <p:spPr>
          <a:xfrm flipV="1">
            <a:off x="3124200" y="4419600"/>
            <a:ext cx="1600200" cy="30480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6" name="Oval 5"/>
          <p:cNvSpPr/>
          <p:nvPr/>
        </p:nvSpPr>
        <p:spPr>
          <a:xfrm>
            <a:off x="4724400" y="3886200"/>
            <a:ext cx="2819400" cy="1066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extBox 6"/>
          <p:cNvSpPr txBox="1"/>
          <p:nvPr/>
        </p:nvSpPr>
        <p:spPr>
          <a:xfrm>
            <a:off x="5105400" y="4191000"/>
            <a:ext cx="1981200" cy="381000"/>
          </a:xfrm>
          <a:prstGeom prst="rect">
            <a:avLst/>
          </a:prstGeom>
          <a:noFill/>
        </p:spPr>
        <p:txBody>
          <a:bodyPr wrap="square" rtlCol="0">
            <a:spAutoFit/>
          </a:bodyPr>
          <a:lstStyle/>
          <a:p>
            <a:r>
              <a:rPr lang="en-US" dirty="0" smtClean="0"/>
              <a:t>Parser at Work</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441960"/>
          </a:xfrm>
        </p:spPr>
        <p:txBody>
          <a:bodyPr>
            <a:normAutofit fontScale="90000"/>
          </a:bodyPr>
          <a:lstStyle/>
          <a:p>
            <a:r>
              <a:rPr lang="en-US" dirty="0" smtClean="0"/>
              <a:t>JSON - CONCLUSION</a:t>
            </a:r>
            <a:endParaRPr lang="en-US" dirty="0"/>
          </a:p>
        </p:txBody>
      </p:sp>
      <p:sp>
        <p:nvSpPr>
          <p:cNvPr id="3" name="Content Placeholder 2"/>
          <p:cNvSpPr>
            <a:spLocks noGrp="1"/>
          </p:cNvSpPr>
          <p:nvPr>
            <p:ph idx="1"/>
          </p:nvPr>
        </p:nvSpPr>
        <p:spPr>
          <a:xfrm>
            <a:off x="457200" y="838200"/>
            <a:ext cx="7239000" cy="5617536"/>
          </a:xfrm>
        </p:spPr>
        <p:txBody>
          <a:bodyPr/>
          <a:lstStyle/>
          <a:p>
            <a:pPr algn="just"/>
            <a:endParaRPr lang="en-US" sz="1600" b="1" dirty="0" smtClean="0"/>
          </a:p>
          <a:p>
            <a:pPr algn="just"/>
            <a:r>
              <a:rPr lang="en-US" sz="1600" b="1" dirty="0" smtClean="0"/>
              <a:t>JSON</a:t>
            </a:r>
            <a:r>
              <a:rPr lang="en-US" sz="1600" dirty="0" smtClean="0"/>
              <a:t> or </a:t>
            </a:r>
            <a:r>
              <a:rPr lang="en-US" sz="1600" b="1" dirty="0" smtClean="0"/>
              <a:t>JavaScript Object Notation</a:t>
            </a:r>
            <a:r>
              <a:rPr lang="en-US" sz="1600" dirty="0" smtClean="0"/>
              <a:t>, is a lightweight text-based open standard designed for human readable data interchange. It is derived from the JavaScript scripting language for representing simple data structures and associative arrays, called objects. Despite its relationship to JavaScript, it is language-independent, with parsers available for most languages</a:t>
            </a:r>
            <a:r>
              <a:rPr lang="en-US" sz="1400" dirty="0" smtClean="0"/>
              <a:t>.</a:t>
            </a:r>
          </a:p>
          <a:p>
            <a:pPr>
              <a:buNone/>
            </a:pPr>
            <a:endParaRPr lang="en-US" sz="1400" dirty="0" smtClean="0"/>
          </a:p>
          <a:p>
            <a:pPr algn="just"/>
            <a:r>
              <a:rPr lang="en-US" sz="1600" dirty="0" smtClean="0"/>
              <a:t>The JSON format was originally specified by </a:t>
            </a:r>
            <a:r>
              <a:rPr lang="en-US" sz="1600" dirty="0" smtClean="0">
                <a:solidFill>
                  <a:srgbClr val="C00000"/>
                </a:solidFill>
              </a:rPr>
              <a:t>Douglas </a:t>
            </a:r>
            <a:r>
              <a:rPr lang="en-US" sz="1600" dirty="0" err="1" smtClean="0">
                <a:solidFill>
                  <a:srgbClr val="C00000"/>
                </a:solidFill>
              </a:rPr>
              <a:t>Crockford</a:t>
            </a:r>
            <a:r>
              <a:rPr lang="en-US" sz="1600" dirty="0" smtClean="0"/>
              <a:t>, and is described in </a:t>
            </a:r>
            <a:r>
              <a:rPr lang="en-US" sz="1600" dirty="0" smtClean="0">
                <a:solidFill>
                  <a:srgbClr val="C00000"/>
                </a:solidFill>
              </a:rPr>
              <a:t>RFC 4627</a:t>
            </a:r>
            <a:r>
              <a:rPr lang="en-US" sz="1600" dirty="0" smtClean="0"/>
              <a:t>. The official Internet media type for JSON is </a:t>
            </a:r>
            <a:r>
              <a:rPr lang="en-US" sz="1600" dirty="0" smtClean="0">
                <a:solidFill>
                  <a:srgbClr val="C00000"/>
                </a:solidFill>
              </a:rPr>
              <a:t>application/</a:t>
            </a:r>
            <a:r>
              <a:rPr lang="en-US" sz="1600" dirty="0" err="1" smtClean="0">
                <a:solidFill>
                  <a:srgbClr val="C00000"/>
                </a:solidFill>
              </a:rPr>
              <a:t>json</a:t>
            </a:r>
            <a:r>
              <a:rPr lang="en-US" sz="1600" dirty="0" smtClean="0">
                <a:solidFill>
                  <a:srgbClr val="C00000"/>
                </a:solidFill>
              </a:rPr>
              <a:t>. </a:t>
            </a:r>
            <a:r>
              <a:rPr lang="en-US" sz="1600" dirty="0" smtClean="0"/>
              <a:t>The JSON filename extension is </a:t>
            </a:r>
            <a:r>
              <a:rPr lang="en-US" sz="1600" dirty="0" smtClean="0">
                <a:solidFill>
                  <a:srgbClr val="C00000"/>
                </a:solidFill>
              </a:rPr>
              <a:t>.</a:t>
            </a:r>
            <a:r>
              <a:rPr lang="en-US" sz="1600" dirty="0" err="1" smtClean="0">
                <a:solidFill>
                  <a:srgbClr val="C00000"/>
                </a:solidFill>
              </a:rPr>
              <a:t>json</a:t>
            </a:r>
            <a:r>
              <a:rPr lang="en-US" dirty="0" smtClean="0"/>
              <a:t>.</a:t>
            </a:r>
          </a:p>
          <a:p>
            <a:pPr algn="just">
              <a:buNone/>
            </a:pPr>
            <a:endParaRPr lang="en-US" dirty="0" smtClean="0"/>
          </a:p>
          <a:p>
            <a:pPr algn="just"/>
            <a:r>
              <a:rPr lang="en-US" sz="1800" dirty="0" smtClean="0"/>
              <a:t>The </a:t>
            </a:r>
            <a:r>
              <a:rPr lang="en-US" sz="1800" dirty="0" smtClean="0">
                <a:solidFill>
                  <a:srgbClr val="C00000"/>
                </a:solidFill>
              </a:rPr>
              <a:t>JSON</a:t>
            </a:r>
            <a:r>
              <a:rPr lang="en-US" sz="1800" dirty="0" smtClean="0"/>
              <a:t> format is often used for </a:t>
            </a:r>
            <a:r>
              <a:rPr lang="en-US" sz="1800" dirty="0" smtClean="0">
                <a:solidFill>
                  <a:srgbClr val="C00000"/>
                </a:solidFill>
              </a:rPr>
              <a:t>serializing</a:t>
            </a:r>
            <a:r>
              <a:rPr lang="en-US" sz="1800" dirty="0" smtClean="0"/>
              <a:t> and </a:t>
            </a:r>
            <a:r>
              <a:rPr lang="en-US" sz="1800" dirty="0" smtClean="0">
                <a:solidFill>
                  <a:srgbClr val="C00000"/>
                </a:solidFill>
              </a:rPr>
              <a:t>transmitting</a:t>
            </a:r>
            <a:r>
              <a:rPr lang="en-US" sz="1800" dirty="0" smtClean="0"/>
              <a:t> structured data over a network connection. It is used primarily to transmit data between a server and web application, serving as an alternative to </a:t>
            </a:r>
            <a:r>
              <a:rPr lang="en-US" sz="1800" dirty="0" smtClean="0">
                <a:solidFill>
                  <a:srgbClr val="C00000"/>
                </a:solidFill>
              </a:rPr>
              <a:t>XML</a:t>
            </a:r>
            <a:r>
              <a:rPr lang="en-US" sz="2400" dirty="0" smtClean="0"/>
              <a:t>.</a:t>
            </a:r>
          </a:p>
          <a:p>
            <a:pPr algn="just"/>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3200" y="5029200"/>
            <a:ext cx="3200400" cy="762000"/>
          </a:xfrm>
        </p:spPr>
        <p:txBody>
          <a:bodyPr>
            <a:noAutofit/>
          </a:bodyPr>
          <a:lstStyle/>
          <a:p>
            <a:pPr>
              <a:buNone/>
            </a:pPr>
            <a:r>
              <a:rPr lang="en-US" sz="3200" b="1" dirty="0" smtClean="0"/>
              <a:t>QUESTIONS</a:t>
            </a:r>
            <a:endParaRPr lang="en-US" sz="3200" b="1" dirty="0"/>
          </a:p>
        </p:txBody>
      </p:sp>
      <p:pic>
        <p:nvPicPr>
          <p:cNvPr id="2050" name="Picture 2" descr="C:\Documents and Settings\u16017\Desktop\sleep-questions-man.jpg"/>
          <p:cNvPicPr>
            <a:picLocks noChangeAspect="1" noChangeArrowheads="1"/>
          </p:cNvPicPr>
          <p:nvPr/>
        </p:nvPicPr>
        <p:blipFill>
          <a:blip r:embed="rId2" cstate="print"/>
          <a:srcRect/>
          <a:stretch>
            <a:fillRect/>
          </a:stretch>
        </p:blipFill>
        <p:spPr bwMode="auto">
          <a:xfrm>
            <a:off x="1828800" y="914400"/>
            <a:ext cx="4572000" cy="37973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720</TotalTime>
  <Words>1229</Words>
  <Application>Microsoft Office PowerPoint</Application>
  <PresentationFormat>On-screen Show (4:3)</PresentationFormat>
  <Paragraphs>249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Trebuchet MS</vt:lpstr>
      <vt:lpstr>Wingdings</vt:lpstr>
      <vt:lpstr>Wingdings 2</vt:lpstr>
      <vt:lpstr>Opulent</vt:lpstr>
      <vt:lpstr>UNDERSTANDING JSON</vt:lpstr>
      <vt:lpstr>What is json ?</vt:lpstr>
      <vt:lpstr>Much like xml</vt:lpstr>
      <vt:lpstr>MUCH UNLIKE XML</vt:lpstr>
      <vt:lpstr>WHY JSON ?</vt:lpstr>
      <vt:lpstr>Json example</vt:lpstr>
      <vt:lpstr>JSON SYNTAX</vt:lpstr>
      <vt:lpstr>Json name/value pairs</vt:lpstr>
      <vt:lpstr>Json values</vt:lpstr>
      <vt:lpstr>JSON OBJECTS</vt:lpstr>
      <vt:lpstr>Json arrays</vt:lpstr>
      <vt:lpstr>Json files</vt:lpstr>
      <vt:lpstr>Converting a json text to a javascript object</vt:lpstr>
      <vt:lpstr>Example: convert json data to javascript object</vt:lpstr>
      <vt:lpstr>Json- servlet/jsp interaction</vt:lpstr>
      <vt:lpstr>JSON and JAVA</vt:lpstr>
      <vt:lpstr>Understanding the JsonObject class</vt:lpstr>
      <vt:lpstr>Understaning  jsonarray class</vt:lpstr>
      <vt:lpstr>JSON-SERVLET EXAMPLE</vt:lpstr>
      <vt:lpstr>JSON PARSER</vt:lpstr>
      <vt:lpstr>JSON PARSER EXAMPLE</vt:lpstr>
      <vt:lpstr>JSON - CONCLUSION</vt:lpstr>
      <vt:lpstr>PowerPoint Presentation</vt:lpstr>
    </vt:vector>
  </TitlesOfParts>
  <Company>UST Global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JSON</dc:title>
  <dc:creator>u16017</dc:creator>
  <cp:lastModifiedBy>Thomas Koshy (UST, IND)</cp:lastModifiedBy>
  <cp:revision>91</cp:revision>
  <dcterms:created xsi:type="dcterms:W3CDTF">2012-01-20T05:38:17Z</dcterms:created>
  <dcterms:modified xsi:type="dcterms:W3CDTF">2016-05-11T19:09:32Z</dcterms:modified>
</cp:coreProperties>
</file>